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border"/>
          <p:cNvSpPr/>
          <p:nvPr/>
        </p:nvSpPr>
        <p:spPr>
          <a:xfrm>
            <a:off x="850392" y="1161288"/>
            <a:ext cx="7443216" cy="3236976"/>
          </a:xfrm>
          <a:prstGeom prst="rect">
            <a:avLst/>
          </a:prstGeom>
          <a:solidFill>
            <a:srgbClr val="D6DBDF"/>
          </a:solidFill>
          <a:ln w="25400">
            <a:solidFill>
              <a:srgbClr val="188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417320"/>
            <a:ext cx="2834640" cy="731520"/>
          </a:xfrm>
          <a:prstGeom prst="rect">
            <a:avLst/>
          </a:prstGeom>
        </p:spPr>
      </p:pic>
      <p:sp>
        <p:nvSpPr>
          <p:cNvPr id="5" name="cover_title"/>
          <p:cNvSpPr txBox="1"/>
          <p:nvPr/>
        </p:nvSpPr>
        <p:spPr>
          <a:xfrm>
            <a:off x="1371600" y="2331720"/>
            <a:ext cx="6400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12C"/>
                </a:solidFill>
                <a:latin typeface="Calibri"/>
              </a:defRPr>
            </a:pPr>
            <a:r>
              <a:t>Managed Security Service</a:t>
            </a:r>
          </a:p>
        </p:txBody>
      </p:sp>
      <p:sp>
        <p:nvSpPr>
          <p:cNvPr id="6" name="client_name"/>
          <p:cNvSpPr txBox="1"/>
          <p:nvPr/>
        </p:nvSpPr>
        <p:spPr>
          <a:xfrm>
            <a:off x="1371600" y="2788920"/>
            <a:ext cx="6400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1B212C"/>
                </a:solidFill>
                <a:latin typeface="Calibri"/>
              </a:defRPr>
            </a:pPr>
            <a:r>
              <a:t>[Client Name]</a:t>
            </a:r>
          </a:p>
        </p:txBody>
      </p:sp>
      <p:sp>
        <p:nvSpPr>
          <p:cNvPr id="7" name="reporting_period"/>
          <p:cNvSpPr txBox="1"/>
          <p:nvPr/>
        </p:nvSpPr>
        <p:spPr>
          <a:xfrm>
            <a:off x="1371600" y="3246120"/>
            <a:ext cx="6400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1B212C"/>
                </a:solidFill>
                <a:latin typeface="Calibri"/>
              </a:defRPr>
            </a:pPr>
            <a:r>
              <a:t>Reporting Period: [Start Date] to [End Date]</a:t>
            </a:r>
          </a:p>
        </p:txBody>
      </p:sp>
      <p:sp>
        <p:nvSpPr>
          <p:cNvPr id="8" name="confidential_label"/>
          <p:cNvSpPr txBox="1"/>
          <p:nvPr/>
        </p:nvSpPr>
        <p:spPr>
          <a:xfrm>
            <a:off x="1371600" y="3749039"/>
            <a:ext cx="6400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1B212C"/>
                </a:solidFill>
                <a:latin typeface="Calibri"/>
              </a:defRPr>
            </a:pPr>
            <a:r>
              <a:t>CLIENT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476488" y="4663440"/>
            <a:ext cx="548640" cy="393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ge_number"/>
          <p:cNvSpPr txBox="1"/>
          <p:nvPr/>
        </p:nvSpPr>
        <p:spPr>
          <a:xfrm>
            <a:off x="8476488" y="4681728"/>
            <a:ext cx="502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Report Introduction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ro_body"/>
          <p:cNvSpPr txBox="1"/>
          <p:nvPr/>
        </p:nvSpPr>
        <p:spPr>
          <a:xfrm>
            <a:off x="1499616" y="1143000"/>
            <a:ext cx="6144768" cy="33649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1B212C"/>
                </a:solidFill>
                <a:latin typeface="Calibri"/>
              </a:defRPr>
            </a:pPr>
            <a:r>
              <a:t>•  This monthly cyber security report highlights areas that require attention and / or mitigation actions that can help to advance the security posture of your environment.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 data presented herein is pulled from Mantix4’s Managed Security Service sources (SIEM, SentinelOne, NDR, and SOC), offering a comprehensive view of your organization’s defenses.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Please note that certain risk mitigations (e.g., software patching) must be done with caution to ensure they do not impact service availability or integrity.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 raw statistics accompanying this report give deeper insights into the current security posture and ongoing improvements.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 NDR reports reflect filtered network data in an attempt to reduce noise and highlight anomalies.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Cyber Insight Summary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yber_insight_body"/>
          <p:cNvSpPr txBox="1"/>
          <p:nvPr/>
        </p:nvSpPr>
        <p:spPr>
          <a:xfrm>
            <a:off x="1499616" y="1115568"/>
            <a:ext cx="6144768" cy="34107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1B212C"/>
                </a:solidFill>
                <a:latin typeface="Calibri"/>
              </a:defRPr>
            </a:pPr>
            <a:r>
              <a:t>•  Critical Patch Management Findings: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  <a:r>
              <a:t>     –  Windows Systems: [Count] missing Microsoft KB patches identified across the network.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  <a:r>
              <a:t>     –  Third-Party Software: [Count] applications require updates to address potential vulnerabilities.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  <a:r>
              <a:t>     –  Recommendation: Prioritize the deployment of these updates (with caution) to mitigate security risks and maintain system integrity.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1B212C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200"/>
              </a:spcAft>
              <a:defRPr sz="1200" b="1">
                <a:solidFill>
                  <a:srgbClr val="1B212C"/>
                </a:solidFill>
                <a:latin typeface="Calibri"/>
              </a:defRPr>
            </a:pPr>
            <a:r>
              <a:t>•  [Additional observations and recommendations to be populated]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Service Coverage &amp; Deployment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rvice_coverage_body"/>
          <p:cNvSpPr txBox="1"/>
          <p:nvPr/>
        </p:nvSpPr>
        <p:spPr>
          <a:xfrm>
            <a:off x="1517904" y="1078992"/>
            <a:ext cx="6108192" cy="3456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B212C"/>
                </a:solidFill>
                <a:latin typeface="Calibri"/>
              </a:defRPr>
            </a:pPr>
            <a:r>
              <a:t>•  Endpoint Deployment ([Count] systems detected):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a.  EPIC SIEM:  [Count] agents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b.  SentinelOne XDR:  [Count] agents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c.  DFIR Agent:  [Count] agents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1B212C"/>
                </a:solidFill>
                <a:latin typeface="Calibri"/>
              </a:rPr>
              <a:t>•  Network Detection &amp; Response (NDR):</a:t>
            </a:r>
            <a:r>
              <a:rPr sz="1100" b="0">
                <a:solidFill>
                  <a:srgbClr val="1B212C"/>
                </a:solidFill>
                <a:latin typeface="Calibri"/>
              </a:rPr>
              <a:t>  Active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B212C"/>
                </a:solidFill>
                <a:latin typeface="Calibri"/>
              </a:defRPr>
            </a:pPr>
            <a:r>
              <a:t>•  MS365 Cloud Coverage: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a.  Active user accounts:  [Count]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B212C"/>
                </a:solidFill>
                <a:latin typeface="Calibri"/>
              </a:defRPr>
            </a:pPr>
            <a:r>
              <a:t>•  Vulnerability Management: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a.  Host-Based (OS / 3rd Party SW):  [Count] systems reporting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b.  Network-Based (Perimeter):  Client Managed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1B212C"/>
                </a:solidFill>
                <a:latin typeface="Calibri"/>
              </a:defRPr>
            </a:pPr>
            <a:r>
              <a:t>     c.  Internal Network:  Subscribed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1B212C"/>
                </a:solidFill>
                <a:latin typeface="Calibri"/>
              </a:rPr>
              <a:t>•  Security Operations Center (SOC) 24x7:</a:t>
            </a:r>
            <a:r>
              <a:rPr sz="1100" b="0">
                <a:solidFill>
                  <a:srgbClr val="1B212C"/>
                </a:solidFill>
                <a:latin typeface="Calibri"/>
              </a:rPr>
              <a:t>  Active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Service Statistics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lemetry_panel"/>
          <p:cNvSpPr/>
          <p:nvPr/>
        </p:nvSpPr>
        <p:spPr>
          <a:xfrm>
            <a:off x="3108960" y="1005840"/>
            <a:ext cx="3886200" cy="150876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lemetry_breakdown"/>
          <p:cNvSpPr txBox="1"/>
          <p:nvPr/>
        </p:nvSpPr>
        <p:spPr>
          <a:xfrm>
            <a:off x="3200400" y="1024128"/>
            <a:ext cx="370332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B212C"/>
                </a:solidFill>
                <a:latin typeface="Calibri"/>
              </a:defRPr>
            </a:pPr>
            <a:r>
              <a:t>** Raw Telemetry Source Events: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1B212C"/>
                </a:solidFill>
                <a:latin typeface="Calibri"/>
              </a:defRPr>
            </a:pPr>
            <a:r>
              <a:t>•  Endpoint (SIEM):  [Count]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1B212C"/>
                </a:solidFill>
                <a:latin typeface="Calibri"/>
              </a:defRPr>
            </a:pPr>
            <a:r>
              <a:t>•  Network (NDR):  [Count]*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000" b="0">
                <a:solidFill>
                  <a:srgbClr val="1B212C"/>
                </a:solidFill>
                <a:latin typeface="Calibri"/>
              </a:defRPr>
            </a:pPr>
            <a:r>
              <a:t>•  Cloud (MS365):  [Count]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*The NDR value is an estimate based on typical traffic rates in this time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_raw_telemetry_ring"/>
          <p:cNvSpPr/>
          <p:nvPr/>
        </p:nvSpPr>
        <p:spPr>
          <a:xfrm>
            <a:off x="982980" y="2852928"/>
            <a:ext cx="868680" cy="868680"/>
          </a:xfrm>
          <a:prstGeom prst="ellipse">
            <a:avLst/>
          </a:prstGeom>
          <a:noFill/>
          <a:ln w="381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_raw_telemetry_value"/>
          <p:cNvSpPr txBox="1"/>
          <p:nvPr/>
        </p:nvSpPr>
        <p:spPr>
          <a:xfrm>
            <a:off x="50292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11" name="stat_raw_telemetry_label"/>
          <p:cNvSpPr txBox="1"/>
          <p:nvPr/>
        </p:nvSpPr>
        <p:spPr>
          <a:xfrm>
            <a:off x="50292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2E8B57"/>
                </a:solidFill>
                <a:latin typeface="Calibri"/>
              </a:defRPr>
            </a:pPr>
            <a:r>
              <a:t>Raw Telemetry</a:t>
            </a:r>
          </a:p>
        </p:txBody>
      </p:sp>
      <p:sp>
        <p:nvSpPr>
          <p:cNvPr id="12" name="stat_raw_telemetry_desc"/>
          <p:cNvSpPr txBox="1"/>
          <p:nvPr/>
        </p:nvSpPr>
        <p:spPr>
          <a:xfrm>
            <a:off x="57607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Total number of raw events ingested into the SIEM and NDR during the reporting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_key_detections_ring"/>
          <p:cNvSpPr/>
          <p:nvPr/>
        </p:nvSpPr>
        <p:spPr>
          <a:xfrm>
            <a:off x="3177540" y="2852928"/>
            <a:ext cx="868680" cy="868680"/>
          </a:xfrm>
          <a:prstGeom prst="ellipse">
            <a:avLst/>
          </a:prstGeom>
          <a:noFill/>
          <a:ln w="38100">
            <a:solidFill>
              <a:srgbClr val="D2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_key_detections_value"/>
          <p:cNvSpPr txBox="1"/>
          <p:nvPr/>
        </p:nvSpPr>
        <p:spPr>
          <a:xfrm>
            <a:off x="269748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16" name="stat_key_detections_label"/>
          <p:cNvSpPr txBox="1"/>
          <p:nvPr/>
        </p:nvSpPr>
        <p:spPr>
          <a:xfrm>
            <a:off x="269748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D2691E"/>
                </a:solidFill>
                <a:latin typeface="Calibri"/>
              </a:defRPr>
            </a:pPr>
            <a:r>
              <a:t>Key Detections</a:t>
            </a:r>
          </a:p>
        </p:txBody>
      </p:sp>
      <p:sp>
        <p:nvSpPr>
          <p:cNvPr id="17" name="stat_key_detections_desc"/>
          <p:cNvSpPr txBox="1"/>
          <p:nvPr/>
        </p:nvSpPr>
        <p:spPr>
          <a:xfrm>
            <a:off x="277063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Detections involving critical or high severity events, issues and behaviors.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_analyst_investigations_ring"/>
          <p:cNvSpPr/>
          <p:nvPr/>
        </p:nvSpPr>
        <p:spPr>
          <a:xfrm>
            <a:off x="5372100" y="2852928"/>
            <a:ext cx="868680" cy="868680"/>
          </a:xfrm>
          <a:prstGeom prst="ellipse">
            <a:avLst/>
          </a:prstGeom>
          <a:noFill/>
          <a:ln w="38100">
            <a:solidFill>
              <a:srgbClr val="8B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_analyst_investigations_value"/>
          <p:cNvSpPr txBox="1"/>
          <p:nvPr/>
        </p:nvSpPr>
        <p:spPr>
          <a:xfrm>
            <a:off x="489204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21" name="stat_analyst_investigations_label"/>
          <p:cNvSpPr txBox="1"/>
          <p:nvPr/>
        </p:nvSpPr>
        <p:spPr>
          <a:xfrm>
            <a:off x="489204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8B008B"/>
                </a:solidFill>
                <a:latin typeface="Calibri"/>
              </a:defRPr>
            </a:pPr>
            <a:r>
              <a:t>Analyst Investigations</a:t>
            </a:r>
          </a:p>
        </p:txBody>
      </p:sp>
      <p:sp>
        <p:nvSpPr>
          <p:cNvPr id="22" name="stat_analyst_investigations_desc"/>
          <p:cNvSpPr txBox="1"/>
          <p:nvPr/>
        </p:nvSpPr>
        <p:spPr>
          <a:xfrm>
            <a:off x="496519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Investigative actions, including deeper analysis of contextual sources (e.g. DFIR).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2743200"/>
            <a:ext cx="1828800" cy="18288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t_soc_tickets_ring"/>
          <p:cNvSpPr/>
          <p:nvPr/>
        </p:nvSpPr>
        <p:spPr>
          <a:xfrm>
            <a:off x="7566660" y="2852928"/>
            <a:ext cx="868680" cy="868680"/>
          </a:xfrm>
          <a:prstGeom prst="ellipse">
            <a:avLst/>
          </a:prstGeom>
          <a:noFill/>
          <a:ln w="381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_soc_tickets_value"/>
          <p:cNvSpPr txBox="1"/>
          <p:nvPr/>
        </p:nvSpPr>
        <p:spPr>
          <a:xfrm>
            <a:off x="7086600" y="3017520"/>
            <a:ext cx="1828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1B212C"/>
                </a:solidFill>
                <a:latin typeface="Calibri"/>
              </a:defRPr>
            </a:pPr>
            <a:r>
              <a:t>[Count]</a:t>
            </a:r>
          </a:p>
        </p:txBody>
      </p:sp>
      <p:sp>
        <p:nvSpPr>
          <p:cNvPr id="26" name="stat_soc_tickets_label"/>
          <p:cNvSpPr txBox="1"/>
          <p:nvPr/>
        </p:nvSpPr>
        <p:spPr>
          <a:xfrm>
            <a:off x="7086600" y="3749039"/>
            <a:ext cx="1828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4169E1"/>
                </a:solidFill>
                <a:latin typeface="Calibri"/>
              </a:defRPr>
            </a:pPr>
            <a:r>
              <a:t>SOC Tickets</a:t>
            </a:r>
          </a:p>
        </p:txBody>
      </p:sp>
      <p:sp>
        <p:nvSpPr>
          <p:cNvPr id="27" name="stat_soc_tickets_desc"/>
          <p:cNvSpPr txBox="1"/>
          <p:nvPr/>
        </p:nvSpPr>
        <p:spPr>
          <a:xfrm>
            <a:off x="7159752" y="4005072"/>
            <a:ext cx="168249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1B212C"/>
                </a:solidFill>
                <a:latin typeface="Calibri"/>
              </a:defRPr>
            </a:pPr>
            <a:r>
              <a:t>Tickets generated by the 24x7 SOC involving notable activities requiring confirmation from the client.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3287268"/>
            <a:ext cx="365760" cy="0"/>
          </a:xfrm>
          <a:prstGeom prst="line">
            <a:avLst/>
          </a:prstGeom>
          <a:ln w="3810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26280" y="3287268"/>
            <a:ext cx="365760" cy="0"/>
          </a:xfrm>
          <a:prstGeom prst="line">
            <a:avLst/>
          </a:prstGeom>
          <a:ln w="38100">
            <a:solidFill>
              <a:srgbClr val="D269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20840" y="3287268"/>
            <a:ext cx="365760" cy="0"/>
          </a:xfrm>
          <a:prstGeom prst="line">
            <a:avLst/>
          </a:prstGeom>
          <a:ln w="38100">
            <a:solidFill>
              <a:srgbClr val="4169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33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Top Outbound Data Destination (1st)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outbound_data_1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Top Outbound Data Destination (2nd)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outbound_data_2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Top IP Destinations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top_ip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Top URLs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top_urls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Top External Destination Receiving Data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ext_dest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Country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country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Beaconing Score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beaconing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- 8THSTREET - Sensitive Data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sensitive_data_8thstreet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Vulnerabilities - 8THSTREET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vulns_intro_8thstreet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internal network subnets were scanned for network vulnerabilities (not host-based software vulnerabilities) from the Mantix4 Sensor. The following were identified (Reported as [Category] [Protocol] [Severity] Issue Description):</a:t>
            </a:r>
          </a:p>
        </p:txBody>
      </p:sp>
      <p:sp>
        <p:nvSpPr>
          <p:cNvPr id="8" name="internal_vulns_content_8thstreet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[Vulnerability findings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Mitigation - 8THSTREET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mitigation_intro_8thstreet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following mitigation actions are recommended based on the network vulnerability findings identified during the reporting period:</a:t>
            </a:r>
          </a:p>
        </p:txBody>
      </p:sp>
      <p:sp>
        <p:nvSpPr>
          <p:cNvPr id="8" name="internal_mitigation_content_8thstreet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[Mitigation recommendations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Top Outbound Data Destination (1st)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outbound_data_1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Top Outbound Data Destination (2nd)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outbound_data_2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Top IP Destinations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top_ip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Top URLs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top_urls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Top External Destination Receiving Data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ext_dest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Country by Connection Count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country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Beaconing Score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beaconing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NDR - VANBUREN - Sensitive Data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_panel"/>
          <p:cNvSpPr/>
          <p:nvPr/>
        </p:nvSpPr>
        <p:spPr>
          <a:xfrm>
            <a:off x="1316736" y="914400"/>
            <a:ext cx="6510528" cy="36576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dr_sensitive_data_vanburen"/>
          <p:cNvSpPr/>
          <p:nvPr/>
        </p:nvSpPr>
        <p:spPr>
          <a:xfrm>
            <a:off x="1426464" y="1051560"/>
            <a:ext cx="6291072" cy="338328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[Chart / Image placeholder]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Vulnerabilities - VANBUREN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vulns_intro_vanburen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internal network subnets were scanned for network vulnerabilities (not host-based software vulnerabilities) from the Mantix4 Sensor. The following were identified (Reported as [Category] [Protocol] [Severity] Issue Description):</a:t>
            </a:r>
          </a:p>
        </p:txBody>
      </p:sp>
      <p:sp>
        <p:nvSpPr>
          <p:cNvPr id="8" name="internal_vulns_content_vanburen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[Vulnerability findings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Mitigation - VANBUREN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mitigation_intro_vanburen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following mitigation actions are recommended based on the network vulnerability findings identified during the reporting period:</a:t>
            </a:r>
          </a:p>
        </p:txBody>
      </p:sp>
      <p:sp>
        <p:nvSpPr>
          <p:cNvPr id="8" name="internal_mitigation_content_vanburen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[Mitigation recommendations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Required Software Patches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quired_patches_body"/>
          <p:cNvSpPr txBox="1"/>
          <p:nvPr/>
        </p:nvSpPr>
        <p:spPr>
          <a:xfrm>
            <a:off x="1545336" y="1234440"/>
            <a:ext cx="6053328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1B212C"/>
                </a:solidFill>
                <a:latin typeface="Calibri"/>
              </a:defRPr>
            </a:pPr>
            <a:r>
              <a:t>•  There are currently [Count] Microsoft KB patches that need to be deployed.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300">
                <a:solidFill>
                  <a:srgbClr val="1B212C"/>
                </a:solidFill>
                <a:latin typeface="Calibri"/>
              </a:defRPr>
            </a:pPr>
            <a:r>
              <a:t>•  There are [Count] software packages that require updating. Patching should be done with caution to ensure systems and applications are not negatively impacted.</a:t>
            </a:r>
          </a:p>
        </p:txBody>
      </p:sp>
      <p:sp>
        <p:nvSpPr>
          <p:cNvPr id="8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0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Top Software Patches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ftware_patches_table_note_panel"/>
          <p:cNvSpPr/>
          <p:nvPr/>
        </p:nvSpPr>
        <p:spPr>
          <a:xfrm>
            <a:off x="1316736" y="4114800"/>
            <a:ext cx="6510528" cy="4572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ftware_patches_table_note"/>
          <p:cNvSpPr txBox="1"/>
          <p:nvPr/>
        </p:nvSpPr>
        <p:spPr>
          <a:xfrm>
            <a:off x="1426464" y="4160520"/>
            <a:ext cx="62910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B212C"/>
                </a:solidFill>
                <a:latin typeface="Calibri"/>
              </a:defRPr>
            </a:pPr>
            <a:r>
              <a:t>Note: All patching, particularly on servers, should be done with caution. Patches should be tested, and they should be assessed for compatibility prior to deployment.</a:t>
            </a:r>
          </a:p>
        </p:txBody>
      </p:sp>
      <p:graphicFrame>
        <p:nvGraphicFramePr>
          <p:cNvPr id="8" name="software_patches_table"/>
          <p:cNvGraphicFramePr>
            <a:graphicFrameLocks noGrp="1"/>
          </p:cNvGraphicFramePr>
          <p:nvPr/>
        </p:nvGraphicFramePr>
        <p:xfrm>
          <a:off x="347472" y="1005840"/>
          <a:ext cx="8357616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808"/>
                <a:gridCol w="4178808"/>
              </a:tblGrid>
              <a:tr h="495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 Name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2057400" y="118872"/>
            <a:ext cx="50292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2057400" y="164592"/>
            <a:ext cx="50292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Top Microsoft Patches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s_patches_table_note_panel"/>
          <p:cNvSpPr/>
          <p:nvPr/>
        </p:nvSpPr>
        <p:spPr>
          <a:xfrm>
            <a:off x="1316736" y="4114800"/>
            <a:ext cx="6510528" cy="457200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s_patches_table_note"/>
          <p:cNvSpPr txBox="1"/>
          <p:nvPr/>
        </p:nvSpPr>
        <p:spPr>
          <a:xfrm>
            <a:off x="1426464" y="4160520"/>
            <a:ext cx="62910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B212C"/>
                </a:solidFill>
                <a:latin typeface="Calibri"/>
              </a:defRPr>
            </a:pPr>
            <a:r>
              <a:t>Note: All patching, particularly on servers, should be done with caution. Patches should be tested, and they should be assessed for compatibility prior to deployment.</a:t>
            </a:r>
          </a:p>
        </p:txBody>
      </p:sp>
      <p:graphicFrame>
        <p:nvGraphicFramePr>
          <p:cNvPr id="8" name="ms_patches_table"/>
          <p:cNvGraphicFramePr>
            <a:graphicFrameLocks noGrp="1"/>
          </p:cNvGraphicFramePr>
          <p:nvPr/>
        </p:nvGraphicFramePr>
        <p:xfrm>
          <a:off x="347472" y="1005840"/>
          <a:ext cx="8357616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8808"/>
                <a:gridCol w="4178808"/>
              </a:tblGrid>
              <a:tr h="495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 Name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KB Patch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3D85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B5394"/>
                    </a:solidFill>
                  </a:tcPr>
                </a:tc>
              </a:tr>
            </a:tbl>
          </a:graphicData>
        </a:graphic>
      </p:graphicFrame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Vulnerabilities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vulns_intro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internal network subnets were scanned for network vulnerabilities (not host-based software vulnerabilities) from the Mantix4 Sensor. The following were identified (Reported as [Category] [Protocol] [Severity] Issue Description):</a:t>
            </a:r>
          </a:p>
        </p:txBody>
      </p:sp>
      <p:sp>
        <p:nvSpPr>
          <p:cNvPr id="8" name="internal_vulns_content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[Vulnerability findings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bar"/>
          <p:cNvSpPr/>
          <p:nvPr/>
        </p:nvSpPr>
        <p:spPr>
          <a:xfrm>
            <a:off x="1143000" y="118872"/>
            <a:ext cx="6858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_title"/>
          <p:cNvSpPr txBox="1"/>
          <p:nvPr/>
        </p:nvSpPr>
        <p:spPr>
          <a:xfrm>
            <a:off x="1143000" y="164592"/>
            <a:ext cx="6858000" cy="48463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Internal Network Mitigation</a:t>
            </a:r>
          </a:p>
        </p:txBody>
      </p:sp>
      <p:sp>
        <p:nvSpPr>
          <p:cNvPr id="5" name="accent_line"/>
          <p:cNvSpPr/>
          <p:nvPr/>
        </p:nvSpPr>
        <p:spPr>
          <a:xfrm>
            <a:off x="347472" y="859536"/>
            <a:ext cx="8348471" cy="381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_panel"/>
          <p:cNvSpPr/>
          <p:nvPr/>
        </p:nvSpPr>
        <p:spPr>
          <a:xfrm>
            <a:off x="1316736" y="1005840"/>
            <a:ext cx="6510528" cy="3639312"/>
          </a:xfrm>
          <a:prstGeom prst="rect">
            <a:avLst/>
          </a:prstGeom>
          <a:solidFill>
            <a:srgbClr val="D6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nternal_mitigation_intro"/>
          <p:cNvSpPr txBox="1"/>
          <p:nvPr/>
        </p:nvSpPr>
        <p:spPr>
          <a:xfrm>
            <a:off x="1499616" y="1097280"/>
            <a:ext cx="614476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B212C"/>
                </a:solidFill>
                <a:latin typeface="Calibri"/>
              </a:defRPr>
            </a:pPr>
            <a:r>
              <a:t>The following mitigation actions are recommended based on the network vulnerability findings identified during the reporting period:</a:t>
            </a:r>
          </a:p>
        </p:txBody>
      </p:sp>
      <p:sp>
        <p:nvSpPr>
          <p:cNvPr id="8" name="internal_mitigation_content"/>
          <p:cNvSpPr/>
          <p:nvPr/>
        </p:nvSpPr>
        <p:spPr>
          <a:xfrm>
            <a:off x="1499616" y="1828800"/>
            <a:ext cx="6144768" cy="2606040"/>
          </a:xfrm>
          <a:prstGeom prst="roundRect">
            <a:avLst/>
          </a:prstGeom>
          <a:noFill/>
          <a:ln w="12700" dash="dash">
            <a:solidFill>
              <a:srgbClr val="BFBFB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BFBFBF"/>
                </a:solidFill>
                <a:latin typeface="Calibri"/>
              </a:defRPr>
            </a:pPr>
            <a:r>
              <a:t>[Mitigation recommendations to be populated]</a:t>
            </a:r>
          </a:p>
        </p:txBody>
      </p:sp>
      <p:sp>
        <p:nvSpPr>
          <p:cNvPr id="9" name="footer_bar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ntix4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4736592"/>
            <a:ext cx="1188720" cy="310896"/>
          </a:xfrm>
          <a:prstGeom prst="rect">
            <a:avLst/>
          </a:prstGeom>
        </p:spPr>
      </p:pic>
      <p:sp>
        <p:nvSpPr>
          <p:cNvPr id="11" name="page_number"/>
          <p:cNvSpPr txBox="1"/>
          <p:nvPr/>
        </p:nvSpPr>
        <p:spPr>
          <a:xfrm>
            <a:off x="8229600" y="4690872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