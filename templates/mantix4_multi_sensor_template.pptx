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over_border"/>
          <p:cNvSpPr/>
          <p:nvPr/>
        </p:nvSpPr>
        <p:spPr>
          <a:xfrm>
            <a:off x="850392" y="1161288"/>
            <a:ext cx="7443216" cy="3236976"/>
          </a:xfrm>
          <a:prstGeom prst="rect">
            <a:avLst/>
          </a:prstGeom>
          <a:solidFill>
            <a:srgbClr val="D6DBDF"/>
          </a:solidFill>
          <a:ln w="25400">
            <a:solidFill>
              <a:srgbClr val="1880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antix4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4680" y="1417320"/>
            <a:ext cx="2834640" cy="731520"/>
          </a:xfrm>
          <a:prstGeom prst="rect">
            <a:avLst/>
          </a:prstGeom>
        </p:spPr>
      </p:pic>
      <p:sp>
        <p:nvSpPr>
          <p:cNvPr id="5" name="cover_title"/>
          <p:cNvSpPr txBox="1"/>
          <p:nvPr/>
        </p:nvSpPr>
        <p:spPr>
          <a:xfrm>
            <a:off x="1371600" y="2331720"/>
            <a:ext cx="64008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000" b="1">
                <a:solidFill>
                  <a:srgbClr val="1B212C"/>
                </a:solidFill>
                <a:latin typeface="Calibri"/>
              </a:defRPr>
            </a:pPr>
            <a:r>
              <a:t>Managed Security Service</a:t>
            </a:r>
          </a:p>
        </p:txBody>
      </p:sp>
      <p:sp>
        <p:nvSpPr>
          <p:cNvPr id="6" name="client_name"/>
          <p:cNvSpPr txBox="1"/>
          <p:nvPr/>
        </p:nvSpPr>
        <p:spPr>
          <a:xfrm>
            <a:off x="1371600" y="2788920"/>
            <a:ext cx="64008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000" b="1">
                <a:solidFill>
                  <a:srgbClr val="1B212C"/>
                </a:solidFill>
                <a:latin typeface="Calibri"/>
              </a:defRPr>
            </a:pPr>
            <a:r>
              <a:t>[Client Name]</a:t>
            </a:r>
          </a:p>
        </p:txBody>
      </p:sp>
      <p:sp>
        <p:nvSpPr>
          <p:cNvPr id="7" name="reporting_period"/>
          <p:cNvSpPr txBox="1"/>
          <p:nvPr/>
        </p:nvSpPr>
        <p:spPr>
          <a:xfrm>
            <a:off x="1371600" y="3246120"/>
            <a:ext cx="64008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400" b="0">
                <a:solidFill>
                  <a:srgbClr val="1B212C"/>
                </a:solidFill>
                <a:latin typeface="Calibri"/>
              </a:defRPr>
            </a:pPr>
            <a:r>
              <a:t>Reporting Period: [Start Date] to [End Date]</a:t>
            </a:r>
          </a:p>
        </p:txBody>
      </p:sp>
      <p:sp>
        <p:nvSpPr>
          <p:cNvPr id="8" name="confidential_label"/>
          <p:cNvSpPr txBox="1"/>
          <p:nvPr/>
        </p:nvSpPr>
        <p:spPr>
          <a:xfrm>
            <a:off x="1371600" y="3749039"/>
            <a:ext cx="64008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400" b="0">
                <a:solidFill>
                  <a:srgbClr val="1B212C"/>
                </a:solidFill>
                <a:latin typeface="Calibri"/>
              </a:defRPr>
            </a:pPr>
            <a:r>
              <a:t>CLIENT CONFIDENTIAL</a:t>
            </a:r>
          </a:p>
        </p:txBody>
      </p:sp>
      <p:sp>
        <p:nvSpPr>
          <p:cNvPr id="9" name="Rectangle 8"/>
          <p:cNvSpPr/>
          <p:nvPr/>
        </p:nvSpPr>
        <p:spPr>
          <a:xfrm>
            <a:off x="8476488" y="4663440"/>
            <a:ext cx="548640" cy="39319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page_number"/>
          <p:cNvSpPr txBox="1"/>
          <p:nvPr/>
        </p:nvSpPr>
        <p:spPr>
          <a:xfrm>
            <a:off x="8476488" y="4681728"/>
            <a:ext cx="5029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_bar"/>
          <p:cNvSpPr/>
          <p:nvPr/>
        </p:nvSpPr>
        <p:spPr>
          <a:xfrm>
            <a:off x="2057400" y="118872"/>
            <a:ext cx="5029200" cy="53035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lide_title"/>
          <p:cNvSpPr txBox="1"/>
          <p:nvPr/>
        </p:nvSpPr>
        <p:spPr>
          <a:xfrm>
            <a:off x="2057400" y="164592"/>
            <a:ext cx="5029200" cy="48463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Report Introduction</a:t>
            </a:r>
          </a:p>
        </p:txBody>
      </p:sp>
      <p:sp>
        <p:nvSpPr>
          <p:cNvPr id="5" name="accent_line"/>
          <p:cNvSpPr/>
          <p:nvPr/>
        </p:nvSpPr>
        <p:spPr>
          <a:xfrm>
            <a:off x="347472" y="859536"/>
            <a:ext cx="8348471" cy="38100"/>
          </a:xfrm>
          <a:prstGeom prst="rect">
            <a:avLst/>
          </a:prstGeom>
          <a:solidFill>
            <a:srgbClr val="38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ontent_panel"/>
          <p:cNvSpPr/>
          <p:nvPr/>
        </p:nvSpPr>
        <p:spPr>
          <a:xfrm>
            <a:off x="1316736" y="1005840"/>
            <a:ext cx="6510528" cy="3639312"/>
          </a:xfrm>
          <a:prstGeom prst="rect">
            <a:avLst/>
          </a:prstGeom>
          <a:solidFill>
            <a:srgbClr val="D6DB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ntro_body"/>
          <p:cNvSpPr txBox="1"/>
          <p:nvPr/>
        </p:nvSpPr>
        <p:spPr>
          <a:xfrm>
            <a:off x="1499616" y="1143000"/>
            <a:ext cx="6144768" cy="33649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800"/>
              </a:spcBef>
              <a:spcAft>
                <a:spcPts val="400"/>
              </a:spcAft>
              <a:defRPr sz="1300" b="0">
                <a:solidFill>
                  <a:srgbClr val="1B212C"/>
                </a:solidFill>
                <a:latin typeface="Calibri"/>
              </a:defRPr>
            </a:pPr>
            <a:r>
              <a:t>•  This monthly cyber security report highlights areas that require attention and / or mitigation actions that can help to advance the security posture of your environment.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300">
                <a:solidFill>
                  <a:srgbClr val="1B212C"/>
                </a:solidFill>
                <a:latin typeface="Calibri"/>
              </a:defRPr>
            </a:pPr>
            <a:r>
              <a:t>•  The data presented herein is pulled from Mantix4’s Managed Security Service sources (SIEM, SentinelOne, NDR, and SOC), offering a comprehensive view of your organization’s defenses.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300">
                <a:solidFill>
                  <a:srgbClr val="1B212C"/>
                </a:solidFill>
                <a:latin typeface="Calibri"/>
              </a:defRPr>
            </a:pPr>
            <a:r>
              <a:t>•  Please note that certain risk mitigations (e.g., software patching) must be done with caution to ensure they do not impact service availability or integrity.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300">
                <a:solidFill>
                  <a:srgbClr val="1B212C"/>
                </a:solidFill>
                <a:latin typeface="Calibri"/>
              </a:defRPr>
            </a:pPr>
            <a:r>
              <a:t>•  The raw statistics accompanying this report give deeper insights into the current security posture and ongoing improvements.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300">
                <a:solidFill>
                  <a:srgbClr val="1B212C"/>
                </a:solidFill>
                <a:latin typeface="Calibri"/>
              </a:defRPr>
            </a:pPr>
            <a:r>
              <a:t>•  The NDR reports reflect filtered network data in an attempt to reduce noise and highlight anomalies.</a:t>
            </a:r>
          </a:p>
        </p:txBody>
      </p:sp>
      <p:sp>
        <p:nvSpPr>
          <p:cNvPr id="8" name="footer_bar"/>
          <p:cNvSpPr/>
          <p:nvPr/>
        </p:nvSpPr>
        <p:spPr>
          <a:xfrm>
            <a:off x="0" y="4645152"/>
            <a:ext cx="9144000" cy="502920"/>
          </a:xfrm>
          <a:prstGeom prst="rect">
            <a:avLst/>
          </a:prstGeom>
          <a:solidFill>
            <a:srgbClr val="1B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antix4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4736592"/>
            <a:ext cx="1188720" cy="310896"/>
          </a:xfrm>
          <a:prstGeom prst="rect">
            <a:avLst/>
          </a:prstGeom>
        </p:spPr>
      </p:pic>
      <p:sp>
        <p:nvSpPr>
          <p:cNvPr id="10" name="page_number"/>
          <p:cNvSpPr txBox="1"/>
          <p:nvPr/>
        </p:nvSpPr>
        <p:spPr>
          <a:xfrm>
            <a:off x="8229600" y="4690872"/>
            <a:ext cx="640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_bar"/>
          <p:cNvSpPr/>
          <p:nvPr/>
        </p:nvSpPr>
        <p:spPr>
          <a:xfrm>
            <a:off x="2057400" y="118872"/>
            <a:ext cx="5029200" cy="53035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lide_title"/>
          <p:cNvSpPr txBox="1"/>
          <p:nvPr/>
        </p:nvSpPr>
        <p:spPr>
          <a:xfrm>
            <a:off x="2057400" y="164592"/>
            <a:ext cx="5029200" cy="48463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Cyber Insight Summary</a:t>
            </a:r>
          </a:p>
        </p:txBody>
      </p:sp>
      <p:sp>
        <p:nvSpPr>
          <p:cNvPr id="5" name="accent_line"/>
          <p:cNvSpPr/>
          <p:nvPr/>
        </p:nvSpPr>
        <p:spPr>
          <a:xfrm>
            <a:off x="347472" y="859536"/>
            <a:ext cx="8348471" cy="38100"/>
          </a:xfrm>
          <a:prstGeom prst="rect">
            <a:avLst/>
          </a:prstGeom>
          <a:solidFill>
            <a:srgbClr val="38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ontent_panel"/>
          <p:cNvSpPr/>
          <p:nvPr/>
        </p:nvSpPr>
        <p:spPr>
          <a:xfrm>
            <a:off x="1316736" y="1005840"/>
            <a:ext cx="6510528" cy="3639312"/>
          </a:xfrm>
          <a:prstGeom prst="rect">
            <a:avLst/>
          </a:prstGeom>
          <a:solidFill>
            <a:srgbClr val="D6DB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yber_insight_body"/>
          <p:cNvSpPr txBox="1"/>
          <p:nvPr/>
        </p:nvSpPr>
        <p:spPr>
          <a:xfrm>
            <a:off x="1499616" y="1115568"/>
            <a:ext cx="6144768" cy="34107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300"/>
              </a:spcBef>
              <a:spcAft>
                <a:spcPts val="200"/>
              </a:spcAft>
              <a:defRPr sz="1200" b="1">
                <a:solidFill>
                  <a:srgbClr val="1B212C"/>
                </a:solidFill>
                <a:latin typeface="Calibri"/>
              </a:defRPr>
            </a:pPr>
            <a:r>
              <a:t>•  Critical Patch Management Findings: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200" b="0">
                <a:solidFill>
                  <a:srgbClr val="1B212C"/>
                </a:solidFill>
                <a:latin typeface="Calibri"/>
              </a:defRPr>
            </a:pPr>
            <a:r>
              <a:t>     –  Windows Systems: [Count] missing Microsoft KB patches identified across the network.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200" b="0">
                <a:solidFill>
                  <a:srgbClr val="1B212C"/>
                </a:solidFill>
                <a:latin typeface="Calibri"/>
              </a:defRPr>
            </a:pPr>
            <a:r>
              <a:t>     –  Third-Party Software: [Count] applications require updates to address potential vulnerabilities.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200" b="0">
                <a:solidFill>
                  <a:srgbClr val="1B212C"/>
                </a:solidFill>
                <a:latin typeface="Calibri"/>
              </a:defRPr>
            </a:pPr>
            <a:r>
              <a:t>     –  Recommendation: Prioritize the deployment of these updates (with caution) to mitigate security risks and maintain system integrity.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200" b="0">
                <a:solidFill>
                  <a:srgbClr val="1B212C"/>
                </a:solidFill>
                <a:latin typeface="Calibri"/>
              </a:defRPr>
            </a:pPr>
          </a:p>
          <a:p>
            <a:pPr>
              <a:spcBef>
                <a:spcPts val="300"/>
              </a:spcBef>
              <a:spcAft>
                <a:spcPts val="200"/>
              </a:spcAft>
              <a:defRPr sz="1200" b="1">
                <a:solidFill>
                  <a:srgbClr val="1B212C"/>
                </a:solidFill>
                <a:latin typeface="Calibri"/>
              </a:defRPr>
            </a:pPr>
            <a:r>
              <a:t>•  [Additional observations and recommendations to be populated]</a:t>
            </a:r>
          </a:p>
        </p:txBody>
      </p:sp>
      <p:sp>
        <p:nvSpPr>
          <p:cNvPr id="8" name="footer_bar"/>
          <p:cNvSpPr/>
          <p:nvPr/>
        </p:nvSpPr>
        <p:spPr>
          <a:xfrm>
            <a:off x="0" y="4645152"/>
            <a:ext cx="9144000" cy="502920"/>
          </a:xfrm>
          <a:prstGeom prst="rect">
            <a:avLst/>
          </a:prstGeom>
          <a:solidFill>
            <a:srgbClr val="1B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antix4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4736592"/>
            <a:ext cx="1188720" cy="310896"/>
          </a:xfrm>
          <a:prstGeom prst="rect">
            <a:avLst/>
          </a:prstGeom>
        </p:spPr>
      </p:pic>
      <p:sp>
        <p:nvSpPr>
          <p:cNvPr id="10" name="page_number"/>
          <p:cNvSpPr txBox="1"/>
          <p:nvPr/>
        </p:nvSpPr>
        <p:spPr>
          <a:xfrm>
            <a:off x="8229600" y="4690872"/>
            <a:ext cx="640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_bar"/>
          <p:cNvSpPr/>
          <p:nvPr/>
        </p:nvSpPr>
        <p:spPr>
          <a:xfrm>
            <a:off x="1143000" y="118872"/>
            <a:ext cx="6858000" cy="53035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lide_title"/>
          <p:cNvSpPr txBox="1"/>
          <p:nvPr/>
        </p:nvSpPr>
        <p:spPr>
          <a:xfrm>
            <a:off x="1143000" y="164592"/>
            <a:ext cx="6858000" cy="48463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Service Coverage &amp; Deployment</a:t>
            </a:r>
          </a:p>
        </p:txBody>
      </p:sp>
      <p:sp>
        <p:nvSpPr>
          <p:cNvPr id="5" name="accent_line"/>
          <p:cNvSpPr/>
          <p:nvPr/>
        </p:nvSpPr>
        <p:spPr>
          <a:xfrm>
            <a:off x="347472" y="859536"/>
            <a:ext cx="8348471" cy="38100"/>
          </a:xfrm>
          <a:prstGeom prst="rect">
            <a:avLst/>
          </a:prstGeom>
          <a:solidFill>
            <a:srgbClr val="38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ontent_panel"/>
          <p:cNvSpPr/>
          <p:nvPr/>
        </p:nvSpPr>
        <p:spPr>
          <a:xfrm>
            <a:off x="1316736" y="1005840"/>
            <a:ext cx="6510528" cy="3639312"/>
          </a:xfrm>
          <a:prstGeom prst="rect">
            <a:avLst/>
          </a:prstGeom>
          <a:solidFill>
            <a:srgbClr val="D6DB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service_coverage_body"/>
          <p:cNvSpPr txBox="1"/>
          <p:nvPr/>
        </p:nvSpPr>
        <p:spPr>
          <a:xfrm>
            <a:off x="1517904" y="1078992"/>
            <a:ext cx="6108192" cy="3456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400"/>
              </a:spcBef>
              <a:spcAft>
                <a:spcPts val="200"/>
              </a:spcAft>
              <a:defRPr sz="1100" b="1">
                <a:solidFill>
                  <a:srgbClr val="1B212C"/>
                </a:solidFill>
                <a:latin typeface="Calibri"/>
              </a:defRPr>
            </a:pPr>
            <a:r>
              <a:t>•  Endpoint Deployment ([Count] systems detected):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1B212C"/>
                </a:solidFill>
                <a:latin typeface="Calibri"/>
              </a:defRPr>
            </a:pPr>
            <a:r>
              <a:t>     a.  EPIC SIEM:  [Count] agents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1B212C"/>
                </a:solidFill>
                <a:latin typeface="Calibri"/>
              </a:defRPr>
            </a:pPr>
            <a:r>
              <a:t>     b.  SentinelOne XDR:  [Count] agents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1B212C"/>
                </a:solidFill>
                <a:latin typeface="Calibri"/>
              </a:defRPr>
            </a:pPr>
            <a:r>
              <a:t>     c.  DFIR Agent:  [Count] agents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100" b="1">
                <a:solidFill>
                  <a:srgbClr val="1B212C"/>
                </a:solidFill>
                <a:latin typeface="Calibri"/>
              </a:rPr>
              <a:t>•  Network Detection &amp; Response (NDR):</a:t>
            </a:r>
            <a:r>
              <a:rPr sz="1100" b="0">
                <a:solidFill>
                  <a:srgbClr val="1B212C"/>
                </a:solidFill>
                <a:latin typeface="Calibri"/>
              </a:rPr>
              <a:t>  Active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100" b="1">
                <a:solidFill>
                  <a:srgbClr val="1B212C"/>
                </a:solidFill>
                <a:latin typeface="Calibri"/>
              </a:defRPr>
            </a:pPr>
            <a:r>
              <a:t>•  MS365 Cloud Coverage: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1B212C"/>
                </a:solidFill>
                <a:latin typeface="Calibri"/>
              </a:defRPr>
            </a:pPr>
            <a:r>
              <a:t>     a.  Active user accounts:  [Count]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100" b="1">
                <a:solidFill>
                  <a:srgbClr val="1B212C"/>
                </a:solidFill>
                <a:latin typeface="Calibri"/>
              </a:defRPr>
            </a:pPr>
            <a:r>
              <a:t>•  Vulnerability Management: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1B212C"/>
                </a:solidFill>
                <a:latin typeface="Calibri"/>
              </a:defRPr>
            </a:pPr>
            <a:r>
              <a:t>     a.  Host-Based (OS / 3rd Party SW):  [Count] systems reporting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1B212C"/>
                </a:solidFill>
                <a:latin typeface="Calibri"/>
              </a:defRPr>
            </a:pPr>
            <a:r>
              <a:t>     b.  Network-Based (Perimeter):  Client Managed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1B212C"/>
                </a:solidFill>
                <a:latin typeface="Calibri"/>
              </a:defRPr>
            </a:pPr>
            <a:r>
              <a:t>     c.  Internal Network:  Subscribed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100" b="1">
                <a:solidFill>
                  <a:srgbClr val="1B212C"/>
                </a:solidFill>
                <a:latin typeface="Calibri"/>
              </a:rPr>
              <a:t>•  Security Operations Center (SOC) 24x7:</a:t>
            </a:r>
            <a:r>
              <a:rPr sz="1100" b="0">
                <a:solidFill>
                  <a:srgbClr val="1B212C"/>
                </a:solidFill>
                <a:latin typeface="Calibri"/>
              </a:rPr>
              <a:t>  Active</a:t>
            </a:r>
          </a:p>
        </p:txBody>
      </p:sp>
      <p:sp>
        <p:nvSpPr>
          <p:cNvPr id="8" name="footer_bar"/>
          <p:cNvSpPr/>
          <p:nvPr/>
        </p:nvSpPr>
        <p:spPr>
          <a:xfrm>
            <a:off x="0" y="4645152"/>
            <a:ext cx="9144000" cy="502920"/>
          </a:xfrm>
          <a:prstGeom prst="rect">
            <a:avLst/>
          </a:prstGeom>
          <a:solidFill>
            <a:srgbClr val="1B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antix4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4736592"/>
            <a:ext cx="1188720" cy="310896"/>
          </a:xfrm>
          <a:prstGeom prst="rect">
            <a:avLst/>
          </a:prstGeom>
        </p:spPr>
      </p:pic>
      <p:sp>
        <p:nvSpPr>
          <p:cNvPr id="10" name="page_number"/>
          <p:cNvSpPr txBox="1"/>
          <p:nvPr/>
        </p:nvSpPr>
        <p:spPr>
          <a:xfrm>
            <a:off x="8229600" y="4690872"/>
            <a:ext cx="640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_bar"/>
          <p:cNvSpPr/>
          <p:nvPr/>
        </p:nvSpPr>
        <p:spPr>
          <a:xfrm>
            <a:off x="2057400" y="118872"/>
            <a:ext cx="5029200" cy="53035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lide_title"/>
          <p:cNvSpPr txBox="1"/>
          <p:nvPr/>
        </p:nvSpPr>
        <p:spPr>
          <a:xfrm>
            <a:off x="2057400" y="164592"/>
            <a:ext cx="5029200" cy="48463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Service Statistics</a:t>
            </a:r>
          </a:p>
        </p:txBody>
      </p:sp>
      <p:sp>
        <p:nvSpPr>
          <p:cNvPr id="5" name="accent_line"/>
          <p:cNvSpPr/>
          <p:nvPr/>
        </p:nvSpPr>
        <p:spPr>
          <a:xfrm>
            <a:off x="347472" y="859536"/>
            <a:ext cx="8348471" cy="38100"/>
          </a:xfrm>
          <a:prstGeom prst="rect">
            <a:avLst/>
          </a:prstGeom>
          <a:solidFill>
            <a:srgbClr val="38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lemetry_panel"/>
          <p:cNvSpPr/>
          <p:nvPr/>
        </p:nvSpPr>
        <p:spPr>
          <a:xfrm>
            <a:off x="3108960" y="1005840"/>
            <a:ext cx="3886200" cy="1508760"/>
          </a:xfrm>
          <a:prstGeom prst="rect">
            <a:avLst/>
          </a:prstGeom>
          <a:solidFill>
            <a:srgbClr val="D6DB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lemetry_breakdown"/>
          <p:cNvSpPr txBox="1"/>
          <p:nvPr/>
        </p:nvSpPr>
        <p:spPr>
          <a:xfrm>
            <a:off x="3200400" y="1024128"/>
            <a:ext cx="3703320" cy="1417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1B212C"/>
                </a:solidFill>
                <a:latin typeface="Calibri"/>
              </a:defRPr>
            </a:pPr>
            <a:r>
              <a:t>** Raw Telemetry Source Events:</a:t>
            </a:r>
          </a:p>
          <a:p>
            <a:pPr algn="l">
              <a:spcBef>
                <a:spcPts val="300"/>
              </a:spcBef>
              <a:spcAft>
                <a:spcPts val="100"/>
              </a:spcAft>
              <a:defRPr sz="1000" b="0">
                <a:solidFill>
                  <a:srgbClr val="1B212C"/>
                </a:solidFill>
                <a:latin typeface="Calibri"/>
              </a:defRPr>
            </a:pPr>
            <a:r>
              <a:t>•  Endpoint (SIEM):  [Count]</a:t>
            </a:r>
          </a:p>
          <a:p>
            <a:pPr algn="l">
              <a:spcBef>
                <a:spcPts val="300"/>
              </a:spcBef>
              <a:spcAft>
                <a:spcPts val="100"/>
              </a:spcAft>
              <a:defRPr sz="1000" b="0">
                <a:solidFill>
                  <a:srgbClr val="1B212C"/>
                </a:solidFill>
                <a:latin typeface="Calibri"/>
              </a:defRPr>
            </a:pPr>
            <a:r>
              <a:t>•  Network (NDR):  [Count]*</a:t>
            </a:r>
          </a:p>
          <a:p>
            <a:pPr algn="l">
              <a:spcBef>
                <a:spcPts val="300"/>
              </a:spcBef>
              <a:spcAft>
                <a:spcPts val="100"/>
              </a:spcAft>
              <a:defRPr sz="1000" b="0">
                <a:solidFill>
                  <a:srgbClr val="1B212C"/>
                </a:solidFill>
                <a:latin typeface="Calibri"/>
              </a:defRPr>
            </a:pPr>
            <a:r>
              <a:t>•  Cloud (MS365):  [Count]</a:t>
            </a:r>
          </a:p>
          <a:p>
            <a:pPr algn="l">
              <a:spcBef>
                <a:spcPts val="600"/>
              </a:spcBef>
              <a:spcAft>
                <a:spcPts val="200"/>
              </a:spcAft>
              <a:defRPr sz="700" b="0">
                <a:solidFill>
                  <a:srgbClr val="999999"/>
                </a:solidFill>
                <a:latin typeface="Calibri"/>
              </a:defRPr>
            </a:pPr>
            <a:r>
              <a:t>*The NDR value is an estimate based on typical traffic rates in this time period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743200"/>
            <a:ext cx="1828800" cy="1828800"/>
          </a:xfrm>
          <a:prstGeom prst="rect">
            <a:avLst/>
          </a:prstGeom>
          <a:solidFill>
            <a:srgbClr val="D6DB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stat_raw_telemetry_ring"/>
          <p:cNvSpPr/>
          <p:nvPr/>
        </p:nvSpPr>
        <p:spPr>
          <a:xfrm>
            <a:off x="982980" y="2852928"/>
            <a:ext cx="868680" cy="868680"/>
          </a:xfrm>
          <a:prstGeom prst="ellipse">
            <a:avLst/>
          </a:prstGeom>
          <a:noFill/>
          <a:ln w="38100">
            <a:solidFill>
              <a:srgbClr val="2E8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stat_raw_telemetry_value"/>
          <p:cNvSpPr txBox="1"/>
          <p:nvPr/>
        </p:nvSpPr>
        <p:spPr>
          <a:xfrm>
            <a:off x="502920" y="3017520"/>
            <a:ext cx="18288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300" b="1">
                <a:solidFill>
                  <a:srgbClr val="1B212C"/>
                </a:solidFill>
                <a:latin typeface="Calibri"/>
              </a:defRPr>
            </a:pPr>
            <a:r>
              <a:t>[Count]</a:t>
            </a:r>
          </a:p>
        </p:txBody>
      </p:sp>
      <p:sp>
        <p:nvSpPr>
          <p:cNvPr id="11" name="stat_raw_telemetry_label"/>
          <p:cNvSpPr txBox="1"/>
          <p:nvPr/>
        </p:nvSpPr>
        <p:spPr>
          <a:xfrm>
            <a:off x="502920" y="3749039"/>
            <a:ext cx="1828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900" b="1">
                <a:solidFill>
                  <a:srgbClr val="2E8B57"/>
                </a:solidFill>
                <a:latin typeface="Calibri"/>
              </a:defRPr>
            </a:pPr>
            <a:r>
              <a:t>Raw Telemetry</a:t>
            </a:r>
          </a:p>
        </p:txBody>
      </p:sp>
      <p:sp>
        <p:nvSpPr>
          <p:cNvPr id="12" name="stat_raw_telemetry_desc"/>
          <p:cNvSpPr txBox="1"/>
          <p:nvPr/>
        </p:nvSpPr>
        <p:spPr>
          <a:xfrm>
            <a:off x="576072" y="4005072"/>
            <a:ext cx="1682496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700" b="0">
                <a:solidFill>
                  <a:srgbClr val="1B212C"/>
                </a:solidFill>
                <a:latin typeface="Calibri"/>
              </a:defRPr>
            </a:pPr>
            <a:r>
              <a:t>Total number of raw events ingested into the SIEM and NDR during the reporting period.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97480" y="2743200"/>
            <a:ext cx="1828800" cy="1828800"/>
          </a:xfrm>
          <a:prstGeom prst="rect">
            <a:avLst/>
          </a:prstGeom>
          <a:solidFill>
            <a:srgbClr val="D6DB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stat_key_detections_ring"/>
          <p:cNvSpPr/>
          <p:nvPr/>
        </p:nvSpPr>
        <p:spPr>
          <a:xfrm>
            <a:off x="3177540" y="2852928"/>
            <a:ext cx="868680" cy="868680"/>
          </a:xfrm>
          <a:prstGeom prst="ellipse">
            <a:avLst/>
          </a:prstGeom>
          <a:noFill/>
          <a:ln w="38100">
            <a:solidFill>
              <a:srgbClr val="D269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stat_key_detections_value"/>
          <p:cNvSpPr txBox="1"/>
          <p:nvPr/>
        </p:nvSpPr>
        <p:spPr>
          <a:xfrm>
            <a:off x="2697480" y="3017520"/>
            <a:ext cx="18288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300" b="1">
                <a:solidFill>
                  <a:srgbClr val="1B212C"/>
                </a:solidFill>
                <a:latin typeface="Calibri"/>
              </a:defRPr>
            </a:pPr>
            <a:r>
              <a:t>[Count]</a:t>
            </a:r>
          </a:p>
        </p:txBody>
      </p:sp>
      <p:sp>
        <p:nvSpPr>
          <p:cNvPr id="16" name="stat_key_detections_label"/>
          <p:cNvSpPr txBox="1"/>
          <p:nvPr/>
        </p:nvSpPr>
        <p:spPr>
          <a:xfrm>
            <a:off x="2697480" y="3749039"/>
            <a:ext cx="1828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900" b="1">
                <a:solidFill>
                  <a:srgbClr val="D2691E"/>
                </a:solidFill>
                <a:latin typeface="Calibri"/>
              </a:defRPr>
            </a:pPr>
            <a:r>
              <a:t>Key Detections</a:t>
            </a:r>
          </a:p>
        </p:txBody>
      </p:sp>
      <p:sp>
        <p:nvSpPr>
          <p:cNvPr id="17" name="stat_key_detections_desc"/>
          <p:cNvSpPr txBox="1"/>
          <p:nvPr/>
        </p:nvSpPr>
        <p:spPr>
          <a:xfrm>
            <a:off x="2770632" y="4005072"/>
            <a:ext cx="1682496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700" b="0">
                <a:solidFill>
                  <a:srgbClr val="1B212C"/>
                </a:solidFill>
                <a:latin typeface="Calibri"/>
              </a:defRPr>
            </a:pPr>
            <a:r>
              <a:t>Detections involving critical or high severity events, issues and behaviors.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92040" y="2743200"/>
            <a:ext cx="1828800" cy="1828800"/>
          </a:xfrm>
          <a:prstGeom prst="rect">
            <a:avLst/>
          </a:prstGeom>
          <a:solidFill>
            <a:srgbClr val="D6DB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stat_analyst_investigations_ring"/>
          <p:cNvSpPr/>
          <p:nvPr/>
        </p:nvSpPr>
        <p:spPr>
          <a:xfrm>
            <a:off x="5372100" y="2852928"/>
            <a:ext cx="868680" cy="868680"/>
          </a:xfrm>
          <a:prstGeom prst="ellipse">
            <a:avLst/>
          </a:prstGeom>
          <a:noFill/>
          <a:ln w="38100">
            <a:solidFill>
              <a:srgbClr val="8B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stat_analyst_investigations_value"/>
          <p:cNvSpPr txBox="1"/>
          <p:nvPr/>
        </p:nvSpPr>
        <p:spPr>
          <a:xfrm>
            <a:off x="4892040" y="3017520"/>
            <a:ext cx="18288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300" b="1">
                <a:solidFill>
                  <a:srgbClr val="1B212C"/>
                </a:solidFill>
                <a:latin typeface="Calibri"/>
              </a:defRPr>
            </a:pPr>
            <a:r>
              <a:t>[Count]</a:t>
            </a:r>
          </a:p>
        </p:txBody>
      </p:sp>
      <p:sp>
        <p:nvSpPr>
          <p:cNvPr id="21" name="stat_analyst_investigations_label"/>
          <p:cNvSpPr txBox="1"/>
          <p:nvPr/>
        </p:nvSpPr>
        <p:spPr>
          <a:xfrm>
            <a:off x="4892040" y="3749039"/>
            <a:ext cx="1828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900" b="1">
                <a:solidFill>
                  <a:srgbClr val="8B008B"/>
                </a:solidFill>
                <a:latin typeface="Calibri"/>
              </a:defRPr>
            </a:pPr>
            <a:r>
              <a:t>Analyst Investigations</a:t>
            </a:r>
          </a:p>
        </p:txBody>
      </p:sp>
      <p:sp>
        <p:nvSpPr>
          <p:cNvPr id="22" name="stat_analyst_investigations_desc"/>
          <p:cNvSpPr txBox="1"/>
          <p:nvPr/>
        </p:nvSpPr>
        <p:spPr>
          <a:xfrm>
            <a:off x="4965192" y="4005072"/>
            <a:ext cx="1682496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700" b="0">
                <a:solidFill>
                  <a:srgbClr val="1B212C"/>
                </a:solidFill>
                <a:latin typeface="Calibri"/>
              </a:defRPr>
            </a:pPr>
            <a:r>
              <a:t>Investigative actions, including deeper analysis of contextual sources (e.g. DFIR).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86600" y="2743200"/>
            <a:ext cx="1828800" cy="1828800"/>
          </a:xfrm>
          <a:prstGeom prst="rect">
            <a:avLst/>
          </a:prstGeom>
          <a:solidFill>
            <a:srgbClr val="D6DB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stat_soc_tickets_ring"/>
          <p:cNvSpPr/>
          <p:nvPr/>
        </p:nvSpPr>
        <p:spPr>
          <a:xfrm>
            <a:off x="7566660" y="2852928"/>
            <a:ext cx="868680" cy="868680"/>
          </a:xfrm>
          <a:prstGeom prst="ellipse">
            <a:avLst/>
          </a:prstGeom>
          <a:noFill/>
          <a:ln w="38100">
            <a:solidFill>
              <a:srgbClr val="4169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stat_soc_tickets_value"/>
          <p:cNvSpPr txBox="1"/>
          <p:nvPr/>
        </p:nvSpPr>
        <p:spPr>
          <a:xfrm>
            <a:off x="7086600" y="3017520"/>
            <a:ext cx="18288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300" b="1">
                <a:solidFill>
                  <a:srgbClr val="1B212C"/>
                </a:solidFill>
                <a:latin typeface="Calibri"/>
              </a:defRPr>
            </a:pPr>
            <a:r>
              <a:t>[Count]</a:t>
            </a:r>
          </a:p>
        </p:txBody>
      </p:sp>
      <p:sp>
        <p:nvSpPr>
          <p:cNvPr id="26" name="stat_soc_tickets_label"/>
          <p:cNvSpPr txBox="1"/>
          <p:nvPr/>
        </p:nvSpPr>
        <p:spPr>
          <a:xfrm>
            <a:off x="7086600" y="3749039"/>
            <a:ext cx="1828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900" b="1">
                <a:solidFill>
                  <a:srgbClr val="4169E1"/>
                </a:solidFill>
                <a:latin typeface="Calibri"/>
              </a:defRPr>
            </a:pPr>
            <a:r>
              <a:t>SOC Tickets</a:t>
            </a:r>
          </a:p>
        </p:txBody>
      </p:sp>
      <p:sp>
        <p:nvSpPr>
          <p:cNvPr id="27" name="stat_soc_tickets_desc"/>
          <p:cNvSpPr txBox="1"/>
          <p:nvPr/>
        </p:nvSpPr>
        <p:spPr>
          <a:xfrm>
            <a:off x="7159752" y="4005072"/>
            <a:ext cx="1682496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700" b="0">
                <a:solidFill>
                  <a:srgbClr val="1B212C"/>
                </a:solidFill>
                <a:latin typeface="Calibri"/>
              </a:defRPr>
            </a:pPr>
            <a:r>
              <a:t>Tickets generated by the 24x7 SOC involving notable activities requiring confirmation from the client.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331720" y="3287268"/>
            <a:ext cx="365760" cy="0"/>
          </a:xfrm>
          <a:prstGeom prst="line">
            <a:avLst/>
          </a:prstGeom>
          <a:ln w="38100">
            <a:solidFill>
              <a:srgbClr val="2E8B5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4526280" y="3287268"/>
            <a:ext cx="365760" cy="0"/>
          </a:xfrm>
          <a:prstGeom prst="line">
            <a:avLst/>
          </a:prstGeom>
          <a:ln w="38100">
            <a:solidFill>
              <a:srgbClr val="D2691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720840" y="3287268"/>
            <a:ext cx="365760" cy="0"/>
          </a:xfrm>
          <a:prstGeom prst="line">
            <a:avLst/>
          </a:prstGeom>
          <a:ln w="38100">
            <a:solidFill>
              <a:srgbClr val="4169E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footer_bar"/>
          <p:cNvSpPr/>
          <p:nvPr/>
        </p:nvSpPr>
        <p:spPr>
          <a:xfrm>
            <a:off x="0" y="4645152"/>
            <a:ext cx="9144000" cy="502920"/>
          </a:xfrm>
          <a:prstGeom prst="rect">
            <a:avLst/>
          </a:prstGeom>
          <a:solidFill>
            <a:srgbClr val="1B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mantix4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4736592"/>
            <a:ext cx="1188720" cy="310896"/>
          </a:xfrm>
          <a:prstGeom prst="rect">
            <a:avLst/>
          </a:prstGeom>
        </p:spPr>
      </p:pic>
      <p:sp>
        <p:nvSpPr>
          <p:cNvPr id="33" name="page_number"/>
          <p:cNvSpPr txBox="1"/>
          <p:nvPr/>
        </p:nvSpPr>
        <p:spPr>
          <a:xfrm>
            <a:off x="8229600" y="4690872"/>
            <a:ext cx="640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_bar"/>
          <p:cNvSpPr/>
          <p:nvPr/>
        </p:nvSpPr>
        <p:spPr>
          <a:xfrm>
            <a:off x="1143000" y="118872"/>
            <a:ext cx="6858000" cy="53035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lide_title"/>
          <p:cNvSpPr txBox="1"/>
          <p:nvPr/>
        </p:nvSpPr>
        <p:spPr>
          <a:xfrm>
            <a:off x="1143000" y="164592"/>
            <a:ext cx="6858000" cy="48463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NDR - 8THSTREET - Top Outbound Data Destination (1st)</a:t>
            </a:r>
          </a:p>
        </p:txBody>
      </p:sp>
      <p:sp>
        <p:nvSpPr>
          <p:cNvPr id="5" name="accent_line"/>
          <p:cNvSpPr/>
          <p:nvPr/>
        </p:nvSpPr>
        <p:spPr>
          <a:xfrm>
            <a:off x="347472" y="859536"/>
            <a:ext cx="8348471" cy="38100"/>
          </a:xfrm>
          <a:prstGeom prst="rect">
            <a:avLst/>
          </a:prstGeom>
          <a:solidFill>
            <a:srgbClr val="38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art_panel"/>
          <p:cNvSpPr/>
          <p:nvPr/>
        </p:nvSpPr>
        <p:spPr>
          <a:xfrm>
            <a:off x="1316736" y="914400"/>
            <a:ext cx="6510528" cy="3657600"/>
          </a:xfrm>
          <a:prstGeom prst="rect">
            <a:avLst/>
          </a:prstGeom>
          <a:solidFill>
            <a:srgbClr val="D6DB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ndr_outbound_data_1_8thstreet"/>
          <p:cNvSpPr/>
          <p:nvPr/>
        </p:nvSpPr>
        <p:spPr>
          <a:xfrm>
            <a:off x="1426464" y="1051560"/>
            <a:ext cx="6291072" cy="3383280"/>
          </a:xfrm>
          <a:prstGeom prst="roundRect">
            <a:avLst/>
          </a:prstGeom>
          <a:noFill/>
          <a:ln w="12700" dash="dash">
            <a:solidFill>
              <a:srgbClr val="BFBFB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BFBFBF"/>
                </a:solidFill>
                <a:latin typeface="Calibri"/>
              </a:defRPr>
            </a:pPr>
            <a:r>
              <a:t>[Chart / Image placeholder]</a:t>
            </a:r>
          </a:p>
        </p:txBody>
      </p:sp>
      <p:sp>
        <p:nvSpPr>
          <p:cNvPr id="8" name="footer_bar"/>
          <p:cNvSpPr/>
          <p:nvPr/>
        </p:nvSpPr>
        <p:spPr>
          <a:xfrm>
            <a:off x="0" y="4645152"/>
            <a:ext cx="9144000" cy="502920"/>
          </a:xfrm>
          <a:prstGeom prst="rect">
            <a:avLst/>
          </a:prstGeom>
          <a:solidFill>
            <a:srgbClr val="1B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antix4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4736592"/>
            <a:ext cx="1188720" cy="310896"/>
          </a:xfrm>
          <a:prstGeom prst="rect">
            <a:avLst/>
          </a:prstGeom>
        </p:spPr>
      </p:pic>
      <p:sp>
        <p:nvSpPr>
          <p:cNvPr id="10" name="page_number"/>
          <p:cNvSpPr txBox="1"/>
          <p:nvPr/>
        </p:nvSpPr>
        <p:spPr>
          <a:xfrm>
            <a:off x="8229600" y="4690872"/>
            <a:ext cx="640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_bar"/>
          <p:cNvSpPr/>
          <p:nvPr/>
        </p:nvSpPr>
        <p:spPr>
          <a:xfrm>
            <a:off x="1143000" y="118872"/>
            <a:ext cx="6858000" cy="53035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lide_title"/>
          <p:cNvSpPr txBox="1"/>
          <p:nvPr/>
        </p:nvSpPr>
        <p:spPr>
          <a:xfrm>
            <a:off x="1143000" y="164592"/>
            <a:ext cx="6858000" cy="48463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NDR - 8THSTREET - Top Outbound Data Destination (2nd)</a:t>
            </a:r>
          </a:p>
        </p:txBody>
      </p:sp>
      <p:sp>
        <p:nvSpPr>
          <p:cNvPr id="5" name="accent_line"/>
          <p:cNvSpPr/>
          <p:nvPr/>
        </p:nvSpPr>
        <p:spPr>
          <a:xfrm>
            <a:off x="347472" y="859536"/>
            <a:ext cx="8348471" cy="38100"/>
          </a:xfrm>
          <a:prstGeom prst="rect">
            <a:avLst/>
          </a:prstGeom>
          <a:solidFill>
            <a:srgbClr val="38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art_panel"/>
          <p:cNvSpPr/>
          <p:nvPr/>
        </p:nvSpPr>
        <p:spPr>
          <a:xfrm>
            <a:off x="1316736" y="914400"/>
            <a:ext cx="6510528" cy="3657600"/>
          </a:xfrm>
          <a:prstGeom prst="rect">
            <a:avLst/>
          </a:prstGeom>
          <a:solidFill>
            <a:srgbClr val="D6DB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ndr_outbound_data_2_8thstreet"/>
          <p:cNvSpPr/>
          <p:nvPr/>
        </p:nvSpPr>
        <p:spPr>
          <a:xfrm>
            <a:off x="1426464" y="1051560"/>
            <a:ext cx="6291072" cy="3383280"/>
          </a:xfrm>
          <a:prstGeom prst="roundRect">
            <a:avLst/>
          </a:prstGeom>
          <a:noFill/>
          <a:ln w="12700" dash="dash">
            <a:solidFill>
              <a:srgbClr val="BFBFB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BFBFBF"/>
                </a:solidFill>
                <a:latin typeface="Calibri"/>
              </a:defRPr>
            </a:pPr>
            <a:r>
              <a:t>[Chart / Image placeholder]</a:t>
            </a:r>
          </a:p>
        </p:txBody>
      </p:sp>
      <p:sp>
        <p:nvSpPr>
          <p:cNvPr id="8" name="footer_bar"/>
          <p:cNvSpPr/>
          <p:nvPr/>
        </p:nvSpPr>
        <p:spPr>
          <a:xfrm>
            <a:off x="0" y="4645152"/>
            <a:ext cx="9144000" cy="502920"/>
          </a:xfrm>
          <a:prstGeom prst="rect">
            <a:avLst/>
          </a:prstGeom>
          <a:solidFill>
            <a:srgbClr val="1B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antix4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4736592"/>
            <a:ext cx="1188720" cy="310896"/>
          </a:xfrm>
          <a:prstGeom prst="rect">
            <a:avLst/>
          </a:prstGeom>
        </p:spPr>
      </p:pic>
      <p:sp>
        <p:nvSpPr>
          <p:cNvPr id="10" name="page_number"/>
          <p:cNvSpPr txBox="1"/>
          <p:nvPr/>
        </p:nvSpPr>
        <p:spPr>
          <a:xfrm>
            <a:off x="8229600" y="4690872"/>
            <a:ext cx="640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_bar"/>
          <p:cNvSpPr/>
          <p:nvPr/>
        </p:nvSpPr>
        <p:spPr>
          <a:xfrm>
            <a:off x="1143000" y="118872"/>
            <a:ext cx="6858000" cy="53035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lide_title"/>
          <p:cNvSpPr txBox="1"/>
          <p:nvPr/>
        </p:nvSpPr>
        <p:spPr>
          <a:xfrm>
            <a:off x="1143000" y="164592"/>
            <a:ext cx="6858000" cy="48463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NDR - 8THSTREET - Top IP Destinations by Connection Count</a:t>
            </a:r>
          </a:p>
        </p:txBody>
      </p:sp>
      <p:sp>
        <p:nvSpPr>
          <p:cNvPr id="5" name="accent_line"/>
          <p:cNvSpPr/>
          <p:nvPr/>
        </p:nvSpPr>
        <p:spPr>
          <a:xfrm>
            <a:off x="347472" y="859536"/>
            <a:ext cx="8348471" cy="38100"/>
          </a:xfrm>
          <a:prstGeom prst="rect">
            <a:avLst/>
          </a:prstGeom>
          <a:solidFill>
            <a:srgbClr val="38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art_panel"/>
          <p:cNvSpPr/>
          <p:nvPr/>
        </p:nvSpPr>
        <p:spPr>
          <a:xfrm>
            <a:off x="1316736" y="914400"/>
            <a:ext cx="6510528" cy="3657600"/>
          </a:xfrm>
          <a:prstGeom prst="rect">
            <a:avLst/>
          </a:prstGeom>
          <a:solidFill>
            <a:srgbClr val="D6DB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ndr_top_ip_8thstreet"/>
          <p:cNvSpPr/>
          <p:nvPr/>
        </p:nvSpPr>
        <p:spPr>
          <a:xfrm>
            <a:off x="1426464" y="1051560"/>
            <a:ext cx="6291072" cy="3383280"/>
          </a:xfrm>
          <a:prstGeom prst="roundRect">
            <a:avLst/>
          </a:prstGeom>
          <a:noFill/>
          <a:ln w="12700" dash="dash">
            <a:solidFill>
              <a:srgbClr val="BFBFB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BFBFBF"/>
                </a:solidFill>
                <a:latin typeface="Calibri"/>
              </a:defRPr>
            </a:pPr>
            <a:r>
              <a:t>[Chart / Image placeholder]</a:t>
            </a:r>
          </a:p>
        </p:txBody>
      </p:sp>
      <p:sp>
        <p:nvSpPr>
          <p:cNvPr id="8" name="footer_bar"/>
          <p:cNvSpPr/>
          <p:nvPr/>
        </p:nvSpPr>
        <p:spPr>
          <a:xfrm>
            <a:off x="0" y="4645152"/>
            <a:ext cx="9144000" cy="502920"/>
          </a:xfrm>
          <a:prstGeom prst="rect">
            <a:avLst/>
          </a:prstGeom>
          <a:solidFill>
            <a:srgbClr val="1B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antix4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4736592"/>
            <a:ext cx="1188720" cy="310896"/>
          </a:xfrm>
          <a:prstGeom prst="rect">
            <a:avLst/>
          </a:prstGeom>
        </p:spPr>
      </p:pic>
      <p:sp>
        <p:nvSpPr>
          <p:cNvPr id="10" name="page_number"/>
          <p:cNvSpPr txBox="1"/>
          <p:nvPr/>
        </p:nvSpPr>
        <p:spPr>
          <a:xfrm>
            <a:off x="8229600" y="4690872"/>
            <a:ext cx="640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_bar"/>
          <p:cNvSpPr/>
          <p:nvPr/>
        </p:nvSpPr>
        <p:spPr>
          <a:xfrm>
            <a:off x="1143000" y="118872"/>
            <a:ext cx="6858000" cy="53035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lide_title"/>
          <p:cNvSpPr txBox="1"/>
          <p:nvPr/>
        </p:nvSpPr>
        <p:spPr>
          <a:xfrm>
            <a:off x="1143000" y="164592"/>
            <a:ext cx="6858000" cy="48463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NDR - 8THSTREET - Top URLs by Connection Count</a:t>
            </a:r>
          </a:p>
        </p:txBody>
      </p:sp>
      <p:sp>
        <p:nvSpPr>
          <p:cNvPr id="5" name="accent_line"/>
          <p:cNvSpPr/>
          <p:nvPr/>
        </p:nvSpPr>
        <p:spPr>
          <a:xfrm>
            <a:off x="347472" y="859536"/>
            <a:ext cx="8348471" cy="38100"/>
          </a:xfrm>
          <a:prstGeom prst="rect">
            <a:avLst/>
          </a:prstGeom>
          <a:solidFill>
            <a:srgbClr val="38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art_panel"/>
          <p:cNvSpPr/>
          <p:nvPr/>
        </p:nvSpPr>
        <p:spPr>
          <a:xfrm>
            <a:off x="1316736" y="914400"/>
            <a:ext cx="6510528" cy="3657600"/>
          </a:xfrm>
          <a:prstGeom prst="rect">
            <a:avLst/>
          </a:prstGeom>
          <a:solidFill>
            <a:srgbClr val="D6DB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ndr_top_urls_8thstreet"/>
          <p:cNvSpPr/>
          <p:nvPr/>
        </p:nvSpPr>
        <p:spPr>
          <a:xfrm>
            <a:off x="1426464" y="1051560"/>
            <a:ext cx="6291072" cy="3383280"/>
          </a:xfrm>
          <a:prstGeom prst="roundRect">
            <a:avLst/>
          </a:prstGeom>
          <a:noFill/>
          <a:ln w="12700" dash="dash">
            <a:solidFill>
              <a:srgbClr val="BFBFB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BFBFBF"/>
                </a:solidFill>
                <a:latin typeface="Calibri"/>
              </a:defRPr>
            </a:pPr>
            <a:r>
              <a:t>[Chart / Image placeholder]</a:t>
            </a:r>
          </a:p>
        </p:txBody>
      </p:sp>
      <p:sp>
        <p:nvSpPr>
          <p:cNvPr id="8" name="footer_bar"/>
          <p:cNvSpPr/>
          <p:nvPr/>
        </p:nvSpPr>
        <p:spPr>
          <a:xfrm>
            <a:off x="0" y="4645152"/>
            <a:ext cx="9144000" cy="502920"/>
          </a:xfrm>
          <a:prstGeom prst="rect">
            <a:avLst/>
          </a:prstGeom>
          <a:solidFill>
            <a:srgbClr val="1B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antix4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4736592"/>
            <a:ext cx="1188720" cy="310896"/>
          </a:xfrm>
          <a:prstGeom prst="rect">
            <a:avLst/>
          </a:prstGeom>
        </p:spPr>
      </p:pic>
      <p:sp>
        <p:nvSpPr>
          <p:cNvPr id="10" name="page_number"/>
          <p:cNvSpPr txBox="1"/>
          <p:nvPr/>
        </p:nvSpPr>
        <p:spPr>
          <a:xfrm>
            <a:off x="8229600" y="4690872"/>
            <a:ext cx="640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_bar"/>
          <p:cNvSpPr/>
          <p:nvPr/>
        </p:nvSpPr>
        <p:spPr>
          <a:xfrm>
            <a:off x="1143000" y="118872"/>
            <a:ext cx="6858000" cy="53035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lide_title"/>
          <p:cNvSpPr txBox="1"/>
          <p:nvPr/>
        </p:nvSpPr>
        <p:spPr>
          <a:xfrm>
            <a:off x="1143000" y="164592"/>
            <a:ext cx="6858000" cy="48463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NDR - 8THSTREET - Top External Destination Receiving Data</a:t>
            </a:r>
          </a:p>
        </p:txBody>
      </p:sp>
      <p:sp>
        <p:nvSpPr>
          <p:cNvPr id="5" name="accent_line"/>
          <p:cNvSpPr/>
          <p:nvPr/>
        </p:nvSpPr>
        <p:spPr>
          <a:xfrm>
            <a:off x="347472" y="859536"/>
            <a:ext cx="8348471" cy="38100"/>
          </a:xfrm>
          <a:prstGeom prst="rect">
            <a:avLst/>
          </a:prstGeom>
          <a:solidFill>
            <a:srgbClr val="38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art_panel"/>
          <p:cNvSpPr/>
          <p:nvPr/>
        </p:nvSpPr>
        <p:spPr>
          <a:xfrm>
            <a:off x="1316736" y="914400"/>
            <a:ext cx="6510528" cy="3657600"/>
          </a:xfrm>
          <a:prstGeom prst="rect">
            <a:avLst/>
          </a:prstGeom>
          <a:solidFill>
            <a:srgbClr val="D6DB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ndr_ext_dest_8thstreet"/>
          <p:cNvSpPr/>
          <p:nvPr/>
        </p:nvSpPr>
        <p:spPr>
          <a:xfrm>
            <a:off x="1426464" y="1051560"/>
            <a:ext cx="6291072" cy="3383280"/>
          </a:xfrm>
          <a:prstGeom prst="roundRect">
            <a:avLst/>
          </a:prstGeom>
          <a:noFill/>
          <a:ln w="12700" dash="dash">
            <a:solidFill>
              <a:srgbClr val="BFBFB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BFBFBF"/>
                </a:solidFill>
                <a:latin typeface="Calibri"/>
              </a:defRPr>
            </a:pPr>
            <a:r>
              <a:t>[Chart / Image placeholder]</a:t>
            </a:r>
          </a:p>
        </p:txBody>
      </p:sp>
      <p:sp>
        <p:nvSpPr>
          <p:cNvPr id="8" name="footer_bar"/>
          <p:cNvSpPr/>
          <p:nvPr/>
        </p:nvSpPr>
        <p:spPr>
          <a:xfrm>
            <a:off x="0" y="4645152"/>
            <a:ext cx="9144000" cy="502920"/>
          </a:xfrm>
          <a:prstGeom prst="rect">
            <a:avLst/>
          </a:prstGeom>
          <a:solidFill>
            <a:srgbClr val="1B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antix4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4736592"/>
            <a:ext cx="1188720" cy="310896"/>
          </a:xfrm>
          <a:prstGeom prst="rect">
            <a:avLst/>
          </a:prstGeom>
        </p:spPr>
      </p:pic>
      <p:sp>
        <p:nvSpPr>
          <p:cNvPr id="10" name="page_number"/>
          <p:cNvSpPr txBox="1"/>
          <p:nvPr/>
        </p:nvSpPr>
        <p:spPr>
          <a:xfrm>
            <a:off x="8229600" y="4690872"/>
            <a:ext cx="640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_bar"/>
          <p:cNvSpPr/>
          <p:nvPr/>
        </p:nvSpPr>
        <p:spPr>
          <a:xfrm>
            <a:off x="1143000" y="118872"/>
            <a:ext cx="6858000" cy="53035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lide_title"/>
          <p:cNvSpPr txBox="1"/>
          <p:nvPr/>
        </p:nvSpPr>
        <p:spPr>
          <a:xfrm>
            <a:off x="1143000" y="164592"/>
            <a:ext cx="6858000" cy="48463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NDR - 8THSTREET - Country by Connection Count</a:t>
            </a:r>
          </a:p>
        </p:txBody>
      </p:sp>
      <p:sp>
        <p:nvSpPr>
          <p:cNvPr id="5" name="accent_line"/>
          <p:cNvSpPr/>
          <p:nvPr/>
        </p:nvSpPr>
        <p:spPr>
          <a:xfrm>
            <a:off x="347472" y="859536"/>
            <a:ext cx="8348471" cy="38100"/>
          </a:xfrm>
          <a:prstGeom prst="rect">
            <a:avLst/>
          </a:prstGeom>
          <a:solidFill>
            <a:srgbClr val="38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art_panel"/>
          <p:cNvSpPr/>
          <p:nvPr/>
        </p:nvSpPr>
        <p:spPr>
          <a:xfrm>
            <a:off x="1316736" y="914400"/>
            <a:ext cx="6510528" cy="3657600"/>
          </a:xfrm>
          <a:prstGeom prst="rect">
            <a:avLst/>
          </a:prstGeom>
          <a:solidFill>
            <a:srgbClr val="D6DB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ndr_country_8thstreet"/>
          <p:cNvSpPr/>
          <p:nvPr/>
        </p:nvSpPr>
        <p:spPr>
          <a:xfrm>
            <a:off x="1426464" y="1051560"/>
            <a:ext cx="6291072" cy="3383280"/>
          </a:xfrm>
          <a:prstGeom prst="roundRect">
            <a:avLst/>
          </a:prstGeom>
          <a:noFill/>
          <a:ln w="12700" dash="dash">
            <a:solidFill>
              <a:srgbClr val="BFBFB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BFBFBF"/>
                </a:solidFill>
                <a:latin typeface="Calibri"/>
              </a:defRPr>
            </a:pPr>
            <a:r>
              <a:t>[Chart / Image placeholder]</a:t>
            </a:r>
          </a:p>
        </p:txBody>
      </p:sp>
      <p:sp>
        <p:nvSpPr>
          <p:cNvPr id="8" name="footer_bar"/>
          <p:cNvSpPr/>
          <p:nvPr/>
        </p:nvSpPr>
        <p:spPr>
          <a:xfrm>
            <a:off x="0" y="4645152"/>
            <a:ext cx="9144000" cy="502920"/>
          </a:xfrm>
          <a:prstGeom prst="rect">
            <a:avLst/>
          </a:prstGeom>
          <a:solidFill>
            <a:srgbClr val="1B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antix4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4736592"/>
            <a:ext cx="1188720" cy="310896"/>
          </a:xfrm>
          <a:prstGeom prst="rect">
            <a:avLst/>
          </a:prstGeom>
        </p:spPr>
      </p:pic>
      <p:sp>
        <p:nvSpPr>
          <p:cNvPr id="10" name="page_number"/>
          <p:cNvSpPr txBox="1"/>
          <p:nvPr/>
        </p:nvSpPr>
        <p:spPr>
          <a:xfrm>
            <a:off x="8229600" y="4690872"/>
            <a:ext cx="640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_bar"/>
          <p:cNvSpPr/>
          <p:nvPr/>
        </p:nvSpPr>
        <p:spPr>
          <a:xfrm>
            <a:off x="1143000" y="118872"/>
            <a:ext cx="6858000" cy="53035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lide_title"/>
          <p:cNvSpPr txBox="1"/>
          <p:nvPr/>
        </p:nvSpPr>
        <p:spPr>
          <a:xfrm>
            <a:off x="1143000" y="164592"/>
            <a:ext cx="6858000" cy="48463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NDR - 8THSTREET - Beaconing Score</a:t>
            </a:r>
          </a:p>
        </p:txBody>
      </p:sp>
      <p:sp>
        <p:nvSpPr>
          <p:cNvPr id="5" name="accent_line"/>
          <p:cNvSpPr/>
          <p:nvPr/>
        </p:nvSpPr>
        <p:spPr>
          <a:xfrm>
            <a:off x="347472" y="859536"/>
            <a:ext cx="8348471" cy="38100"/>
          </a:xfrm>
          <a:prstGeom prst="rect">
            <a:avLst/>
          </a:prstGeom>
          <a:solidFill>
            <a:srgbClr val="38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art_panel"/>
          <p:cNvSpPr/>
          <p:nvPr/>
        </p:nvSpPr>
        <p:spPr>
          <a:xfrm>
            <a:off x="1316736" y="914400"/>
            <a:ext cx="6510528" cy="3657600"/>
          </a:xfrm>
          <a:prstGeom prst="rect">
            <a:avLst/>
          </a:prstGeom>
          <a:solidFill>
            <a:srgbClr val="D6DB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ndr_beaconing_8thstreet"/>
          <p:cNvSpPr/>
          <p:nvPr/>
        </p:nvSpPr>
        <p:spPr>
          <a:xfrm>
            <a:off x="1426464" y="1051560"/>
            <a:ext cx="6291072" cy="3383280"/>
          </a:xfrm>
          <a:prstGeom prst="roundRect">
            <a:avLst/>
          </a:prstGeom>
          <a:noFill/>
          <a:ln w="12700" dash="dash">
            <a:solidFill>
              <a:srgbClr val="BFBFB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BFBFBF"/>
                </a:solidFill>
                <a:latin typeface="Calibri"/>
              </a:defRPr>
            </a:pPr>
            <a:r>
              <a:t>[Chart / Image placeholder]</a:t>
            </a:r>
          </a:p>
        </p:txBody>
      </p:sp>
      <p:sp>
        <p:nvSpPr>
          <p:cNvPr id="8" name="footer_bar"/>
          <p:cNvSpPr/>
          <p:nvPr/>
        </p:nvSpPr>
        <p:spPr>
          <a:xfrm>
            <a:off x="0" y="4645152"/>
            <a:ext cx="9144000" cy="502920"/>
          </a:xfrm>
          <a:prstGeom prst="rect">
            <a:avLst/>
          </a:prstGeom>
          <a:solidFill>
            <a:srgbClr val="1B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antix4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4736592"/>
            <a:ext cx="1188720" cy="310896"/>
          </a:xfrm>
          <a:prstGeom prst="rect">
            <a:avLst/>
          </a:prstGeom>
        </p:spPr>
      </p:pic>
      <p:sp>
        <p:nvSpPr>
          <p:cNvPr id="10" name="page_number"/>
          <p:cNvSpPr txBox="1"/>
          <p:nvPr/>
        </p:nvSpPr>
        <p:spPr>
          <a:xfrm>
            <a:off x="8229600" y="4690872"/>
            <a:ext cx="640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_bar"/>
          <p:cNvSpPr/>
          <p:nvPr/>
        </p:nvSpPr>
        <p:spPr>
          <a:xfrm>
            <a:off x="1143000" y="118872"/>
            <a:ext cx="6858000" cy="53035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lide_title"/>
          <p:cNvSpPr txBox="1"/>
          <p:nvPr/>
        </p:nvSpPr>
        <p:spPr>
          <a:xfrm>
            <a:off x="1143000" y="164592"/>
            <a:ext cx="6858000" cy="48463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NDR - 8THSTREET - Sensitive Data</a:t>
            </a:r>
          </a:p>
        </p:txBody>
      </p:sp>
      <p:sp>
        <p:nvSpPr>
          <p:cNvPr id="5" name="accent_line"/>
          <p:cNvSpPr/>
          <p:nvPr/>
        </p:nvSpPr>
        <p:spPr>
          <a:xfrm>
            <a:off x="347472" y="859536"/>
            <a:ext cx="8348471" cy="38100"/>
          </a:xfrm>
          <a:prstGeom prst="rect">
            <a:avLst/>
          </a:prstGeom>
          <a:solidFill>
            <a:srgbClr val="38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art_panel"/>
          <p:cNvSpPr/>
          <p:nvPr/>
        </p:nvSpPr>
        <p:spPr>
          <a:xfrm>
            <a:off x="1316736" y="914400"/>
            <a:ext cx="6510528" cy="3657600"/>
          </a:xfrm>
          <a:prstGeom prst="rect">
            <a:avLst/>
          </a:prstGeom>
          <a:solidFill>
            <a:srgbClr val="D6DB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ndr_sensitive_data_8thstreet"/>
          <p:cNvSpPr/>
          <p:nvPr/>
        </p:nvSpPr>
        <p:spPr>
          <a:xfrm>
            <a:off x="1426464" y="1051560"/>
            <a:ext cx="6291072" cy="3383280"/>
          </a:xfrm>
          <a:prstGeom prst="roundRect">
            <a:avLst/>
          </a:prstGeom>
          <a:noFill/>
          <a:ln w="12700" dash="dash">
            <a:solidFill>
              <a:srgbClr val="BFBFB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BFBFBF"/>
                </a:solidFill>
                <a:latin typeface="Calibri"/>
              </a:defRPr>
            </a:pPr>
            <a:r>
              <a:t>[Chart / Image placeholder]</a:t>
            </a:r>
          </a:p>
        </p:txBody>
      </p:sp>
      <p:sp>
        <p:nvSpPr>
          <p:cNvPr id="8" name="footer_bar"/>
          <p:cNvSpPr/>
          <p:nvPr/>
        </p:nvSpPr>
        <p:spPr>
          <a:xfrm>
            <a:off x="0" y="4645152"/>
            <a:ext cx="9144000" cy="502920"/>
          </a:xfrm>
          <a:prstGeom prst="rect">
            <a:avLst/>
          </a:prstGeom>
          <a:solidFill>
            <a:srgbClr val="1B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antix4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4736592"/>
            <a:ext cx="1188720" cy="310896"/>
          </a:xfrm>
          <a:prstGeom prst="rect">
            <a:avLst/>
          </a:prstGeom>
        </p:spPr>
      </p:pic>
      <p:sp>
        <p:nvSpPr>
          <p:cNvPr id="10" name="page_number"/>
          <p:cNvSpPr txBox="1"/>
          <p:nvPr/>
        </p:nvSpPr>
        <p:spPr>
          <a:xfrm>
            <a:off x="8229600" y="4690872"/>
            <a:ext cx="640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_bar"/>
          <p:cNvSpPr/>
          <p:nvPr/>
        </p:nvSpPr>
        <p:spPr>
          <a:xfrm>
            <a:off x="1143000" y="118872"/>
            <a:ext cx="6858000" cy="53035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lide_title"/>
          <p:cNvSpPr txBox="1"/>
          <p:nvPr/>
        </p:nvSpPr>
        <p:spPr>
          <a:xfrm>
            <a:off x="1143000" y="164592"/>
            <a:ext cx="6858000" cy="48463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Internal Network Vulnerabilities - 8THSTREET</a:t>
            </a:r>
          </a:p>
        </p:txBody>
      </p:sp>
      <p:sp>
        <p:nvSpPr>
          <p:cNvPr id="5" name="accent_line"/>
          <p:cNvSpPr/>
          <p:nvPr/>
        </p:nvSpPr>
        <p:spPr>
          <a:xfrm>
            <a:off x="347472" y="859536"/>
            <a:ext cx="8348471" cy="38100"/>
          </a:xfrm>
          <a:prstGeom prst="rect">
            <a:avLst/>
          </a:prstGeom>
          <a:solidFill>
            <a:srgbClr val="38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ontent_panel"/>
          <p:cNvSpPr/>
          <p:nvPr/>
        </p:nvSpPr>
        <p:spPr>
          <a:xfrm>
            <a:off x="1316736" y="1005840"/>
            <a:ext cx="6510528" cy="3639312"/>
          </a:xfrm>
          <a:prstGeom prst="rect">
            <a:avLst/>
          </a:prstGeom>
          <a:solidFill>
            <a:srgbClr val="D6DB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nternal_vulns_intro_8thstreet"/>
          <p:cNvSpPr txBox="1"/>
          <p:nvPr/>
        </p:nvSpPr>
        <p:spPr>
          <a:xfrm>
            <a:off x="1499616" y="1097280"/>
            <a:ext cx="6144768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1B212C"/>
                </a:solidFill>
                <a:latin typeface="Calibri"/>
              </a:defRPr>
            </a:pPr>
            <a:r>
              <a:t>The internal network subnets were scanned for network vulnerabilities (not host-based software vulnerabilities) from the Mantix4 Sensor. The following were identified (Reported as [Category] [Protocol] [Severity] Issue Description):</a:t>
            </a:r>
          </a:p>
        </p:txBody>
      </p:sp>
      <p:sp>
        <p:nvSpPr>
          <p:cNvPr id="8" name="internal_vulns_content_8thstreet"/>
          <p:cNvSpPr/>
          <p:nvPr/>
        </p:nvSpPr>
        <p:spPr>
          <a:xfrm>
            <a:off x="1499616" y="1828800"/>
            <a:ext cx="6144768" cy="2606040"/>
          </a:xfrm>
          <a:prstGeom prst="roundRect">
            <a:avLst/>
          </a:prstGeom>
          <a:noFill/>
          <a:ln w="12700" dash="dash">
            <a:solidFill>
              <a:srgbClr val="BFBFB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BFBFBF"/>
                </a:solidFill>
                <a:latin typeface="Calibri"/>
              </a:defRPr>
            </a:pPr>
            <a:r>
              <a:t>[Vulnerability findings to be populated]</a:t>
            </a:r>
          </a:p>
        </p:txBody>
      </p:sp>
      <p:sp>
        <p:nvSpPr>
          <p:cNvPr id="9" name="footer_bar"/>
          <p:cNvSpPr/>
          <p:nvPr/>
        </p:nvSpPr>
        <p:spPr>
          <a:xfrm>
            <a:off x="0" y="4645152"/>
            <a:ext cx="9144000" cy="502920"/>
          </a:xfrm>
          <a:prstGeom prst="rect">
            <a:avLst/>
          </a:prstGeom>
          <a:solidFill>
            <a:srgbClr val="1B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antix4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4736592"/>
            <a:ext cx="1188720" cy="310896"/>
          </a:xfrm>
          <a:prstGeom prst="rect">
            <a:avLst/>
          </a:prstGeom>
        </p:spPr>
      </p:pic>
      <p:sp>
        <p:nvSpPr>
          <p:cNvPr id="11" name="page_number"/>
          <p:cNvSpPr txBox="1"/>
          <p:nvPr/>
        </p:nvSpPr>
        <p:spPr>
          <a:xfrm>
            <a:off x="8229600" y="4690872"/>
            <a:ext cx="640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_bar"/>
          <p:cNvSpPr/>
          <p:nvPr/>
        </p:nvSpPr>
        <p:spPr>
          <a:xfrm>
            <a:off x="1143000" y="118872"/>
            <a:ext cx="6858000" cy="53035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lide_title"/>
          <p:cNvSpPr txBox="1"/>
          <p:nvPr/>
        </p:nvSpPr>
        <p:spPr>
          <a:xfrm>
            <a:off x="1143000" y="164592"/>
            <a:ext cx="6858000" cy="48463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Internal Network Mitigation - 8THSTREET</a:t>
            </a:r>
          </a:p>
        </p:txBody>
      </p:sp>
      <p:sp>
        <p:nvSpPr>
          <p:cNvPr id="5" name="accent_line"/>
          <p:cNvSpPr/>
          <p:nvPr/>
        </p:nvSpPr>
        <p:spPr>
          <a:xfrm>
            <a:off x="347472" y="859536"/>
            <a:ext cx="8348471" cy="38100"/>
          </a:xfrm>
          <a:prstGeom prst="rect">
            <a:avLst/>
          </a:prstGeom>
          <a:solidFill>
            <a:srgbClr val="38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ontent_panel"/>
          <p:cNvSpPr/>
          <p:nvPr/>
        </p:nvSpPr>
        <p:spPr>
          <a:xfrm>
            <a:off x="1316736" y="1005840"/>
            <a:ext cx="6510528" cy="3639312"/>
          </a:xfrm>
          <a:prstGeom prst="rect">
            <a:avLst/>
          </a:prstGeom>
          <a:solidFill>
            <a:srgbClr val="D6DB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nternal_mitigation_intro_8thstreet"/>
          <p:cNvSpPr txBox="1"/>
          <p:nvPr/>
        </p:nvSpPr>
        <p:spPr>
          <a:xfrm>
            <a:off x="1499616" y="1097280"/>
            <a:ext cx="6144768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1B212C"/>
                </a:solidFill>
                <a:latin typeface="Calibri"/>
              </a:defRPr>
            </a:pPr>
            <a:r>
              <a:t>The following mitigation actions are recommended based on the network vulnerability findings identified during the reporting period:</a:t>
            </a:r>
          </a:p>
        </p:txBody>
      </p:sp>
      <p:sp>
        <p:nvSpPr>
          <p:cNvPr id="8" name="internal_mitigation_content_8thstreet"/>
          <p:cNvSpPr/>
          <p:nvPr/>
        </p:nvSpPr>
        <p:spPr>
          <a:xfrm>
            <a:off x="1499616" y="1828800"/>
            <a:ext cx="6144768" cy="2606040"/>
          </a:xfrm>
          <a:prstGeom prst="roundRect">
            <a:avLst/>
          </a:prstGeom>
          <a:noFill/>
          <a:ln w="12700" dash="dash">
            <a:solidFill>
              <a:srgbClr val="BFBFB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BFBFBF"/>
                </a:solidFill>
                <a:latin typeface="Calibri"/>
              </a:defRPr>
            </a:pPr>
            <a:r>
              <a:t>[Mitigation recommendations to be populated]</a:t>
            </a:r>
          </a:p>
        </p:txBody>
      </p:sp>
      <p:sp>
        <p:nvSpPr>
          <p:cNvPr id="9" name="footer_bar"/>
          <p:cNvSpPr/>
          <p:nvPr/>
        </p:nvSpPr>
        <p:spPr>
          <a:xfrm>
            <a:off x="0" y="4645152"/>
            <a:ext cx="9144000" cy="502920"/>
          </a:xfrm>
          <a:prstGeom prst="rect">
            <a:avLst/>
          </a:prstGeom>
          <a:solidFill>
            <a:srgbClr val="1B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antix4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4736592"/>
            <a:ext cx="1188720" cy="310896"/>
          </a:xfrm>
          <a:prstGeom prst="rect">
            <a:avLst/>
          </a:prstGeom>
        </p:spPr>
      </p:pic>
      <p:sp>
        <p:nvSpPr>
          <p:cNvPr id="11" name="page_number"/>
          <p:cNvSpPr txBox="1"/>
          <p:nvPr/>
        </p:nvSpPr>
        <p:spPr>
          <a:xfrm>
            <a:off x="8229600" y="4690872"/>
            <a:ext cx="640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_bar"/>
          <p:cNvSpPr/>
          <p:nvPr/>
        </p:nvSpPr>
        <p:spPr>
          <a:xfrm>
            <a:off x="1143000" y="118872"/>
            <a:ext cx="6858000" cy="53035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lide_title"/>
          <p:cNvSpPr txBox="1"/>
          <p:nvPr/>
        </p:nvSpPr>
        <p:spPr>
          <a:xfrm>
            <a:off x="1143000" y="164592"/>
            <a:ext cx="6858000" cy="48463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NDR - VANBUREN - Top Outbound Data Destination (1st)</a:t>
            </a:r>
          </a:p>
        </p:txBody>
      </p:sp>
      <p:sp>
        <p:nvSpPr>
          <p:cNvPr id="5" name="accent_line"/>
          <p:cNvSpPr/>
          <p:nvPr/>
        </p:nvSpPr>
        <p:spPr>
          <a:xfrm>
            <a:off x="347472" y="859536"/>
            <a:ext cx="8348471" cy="38100"/>
          </a:xfrm>
          <a:prstGeom prst="rect">
            <a:avLst/>
          </a:prstGeom>
          <a:solidFill>
            <a:srgbClr val="38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art_panel"/>
          <p:cNvSpPr/>
          <p:nvPr/>
        </p:nvSpPr>
        <p:spPr>
          <a:xfrm>
            <a:off x="1316736" y="914400"/>
            <a:ext cx="6510528" cy="3657600"/>
          </a:xfrm>
          <a:prstGeom prst="rect">
            <a:avLst/>
          </a:prstGeom>
          <a:solidFill>
            <a:srgbClr val="D6DB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ndr_outbound_data_1_vanburen"/>
          <p:cNvSpPr/>
          <p:nvPr/>
        </p:nvSpPr>
        <p:spPr>
          <a:xfrm>
            <a:off x="1426464" y="1051560"/>
            <a:ext cx="6291072" cy="3383280"/>
          </a:xfrm>
          <a:prstGeom prst="roundRect">
            <a:avLst/>
          </a:prstGeom>
          <a:noFill/>
          <a:ln w="12700" dash="dash">
            <a:solidFill>
              <a:srgbClr val="BFBFB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BFBFBF"/>
                </a:solidFill>
                <a:latin typeface="Calibri"/>
              </a:defRPr>
            </a:pPr>
            <a:r>
              <a:t>[Chart / Image placeholder]</a:t>
            </a:r>
          </a:p>
        </p:txBody>
      </p:sp>
      <p:sp>
        <p:nvSpPr>
          <p:cNvPr id="8" name="footer_bar"/>
          <p:cNvSpPr/>
          <p:nvPr/>
        </p:nvSpPr>
        <p:spPr>
          <a:xfrm>
            <a:off x="0" y="4645152"/>
            <a:ext cx="9144000" cy="502920"/>
          </a:xfrm>
          <a:prstGeom prst="rect">
            <a:avLst/>
          </a:prstGeom>
          <a:solidFill>
            <a:srgbClr val="1B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antix4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4736592"/>
            <a:ext cx="1188720" cy="310896"/>
          </a:xfrm>
          <a:prstGeom prst="rect">
            <a:avLst/>
          </a:prstGeom>
        </p:spPr>
      </p:pic>
      <p:sp>
        <p:nvSpPr>
          <p:cNvPr id="10" name="page_number"/>
          <p:cNvSpPr txBox="1"/>
          <p:nvPr/>
        </p:nvSpPr>
        <p:spPr>
          <a:xfrm>
            <a:off x="8229600" y="4690872"/>
            <a:ext cx="640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_bar"/>
          <p:cNvSpPr/>
          <p:nvPr/>
        </p:nvSpPr>
        <p:spPr>
          <a:xfrm>
            <a:off x="1143000" y="118872"/>
            <a:ext cx="6858000" cy="53035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lide_title"/>
          <p:cNvSpPr txBox="1"/>
          <p:nvPr/>
        </p:nvSpPr>
        <p:spPr>
          <a:xfrm>
            <a:off x="1143000" y="164592"/>
            <a:ext cx="6858000" cy="48463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NDR - VANBUREN - Top Outbound Data Destination (2nd)</a:t>
            </a:r>
          </a:p>
        </p:txBody>
      </p:sp>
      <p:sp>
        <p:nvSpPr>
          <p:cNvPr id="5" name="accent_line"/>
          <p:cNvSpPr/>
          <p:nvPr/>
        </p:nvSpPr>
        <p:spPr>
          <a:xfrm>
            <a:off x="347472" y="859536"/>
            <a:ext cx="8348471" cy="38100"/>
          </a:xfrm>
          <a:prstGeom prst="rect">
            <a:avLst/>
          </a:prstGeom>
          <a:solidFill>
            <a:srgbClr val="38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art_panel"/>
          <p:cNvSpPr/>
          <p:nvPr/>
        </p:nvSpPr>
        <p:spPr>
          <a:xfrm>
            <a:off x="1316736" y="914400"/>
            <a:ext cx="6510528" cy="3657600"/>
          </a:xfrm>
          <a:prstGeom prst="rect">
            <a:avLst/>
          </a:prstGeom>
          <a:solidFill>
            <a:srgbClr val="D6DB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ndr_outbound_data_2_vanburen"/>
          <p:cNvSpPr/>
          <p:nvPr/>
        </p:nvSpPr>
        <p:spPr>
          <a:xfrm>
            <a:off x="1426464" y="1051560"/>
            <a:ext cx="6291072" cy="3383280"/>
          </a:xfrm>
          <a:prstGeom prst="roundRect">
            <a:avLst/>
          </a:prstGeom>
          <a:noFill/>
          <a:ln w="12700" dash="dash">
            <a:solidFill>
              <a:srgbClr val="BFBFB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BFBFBF"/>
                </a:solidFill>
                <a:latin typeface="Calibri"/>
              </a:defRPr>
            </a:pPr>
            <a:r>
              <a:t>[Chart / Image placeholder]</a:t>
            </a:r>
          </a:p>
        </p:txBody>
      </p:sp>
      <p:sp>
        <p:nvSpPr>
          <p:cNvPr id="8" name="footer_bar"/>
          <p:cNvSpPr/>
          <p:nvPr/>
        </p:nvSpPr>
        <p:spPr>
          <a:xfrm>
            <a:off x="0" y="4645152"/>
            <a:ext cx="9144000" cy="502920"/>
          </a:xfrm>
          <a:prstGeom prst="rect">
            <a:avLst/>
          </a:prstGeom>
          <a:solidFill>
            <a:srgbClr val="1B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antix4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4736592"/>
            <a:ext cx="1188720" cy="310896"/>
          </a:xfrm>
          <a:prstGeom prst="rect">
            <a:avLst/>
          </a:prstGeom>
        </p:spPr>
      </p:pic>
      <p:sp>
        <p:nvSpPr>
          <p:cNvPr id="10" name="page_number"/>
          <p:cNvSpPr txBox="1"/>
          <p:nvPr/>
        </p:nvSpPr>
        <p:spPr>
          <a:xfrm>
            <a:off x="8229600" y="4690872"/>
            <a:ext cx="640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_bar"/>
          <p:cNvSpPr/>
          <p:nvPr/>
        </p:nvSpPr>
        <p:spPr>
          <a:xfrm>
            <a:off x="1143000" y="118872"/>
            <a:ext cx="6858000" cy="53035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lide_title"/>
          <p:cNvSpPr txBox="1"/>
          <p:nvPr/>
        </p:nvSpPr>
        <p:spPr>
          <a:xfrm>
            <a:off x="1143000" y="164592"/>
            <a:ext cx="6858000" cy="48463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NDR - VANBUREN - Top IP Destinations by Connection Count</a:t>
            </a:r>
          </a:p>
        </p:txBody>
      </p:sp>
      <p:sp>
        <p:nvSpPr>
          <p:cNvPr id="5" name="accent_line"/>
          <p:cNvSpPr/>
          <p:nvPr/>
        </p:nvSpPr>
        <p:spPr>
          <a:xfrm>
            <a:off x="347472" y="859536"/>
            <a:ext cx="8348471" cy="38100"/>
          </a:xfrm>
          <a:prstGeom prst="rect">
            <a:avLst/>
          </a:prstGeom>
          <a:solidFill>
            <a:srgbClr val="38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art_panel"/>
          <p:cNvSpPr/>
          <p:nvPr/>
        </p:nvSpPr>
        <p:spPr>
          <a:xfrm>
            <a:off x="1316736" y="914400"/>
            <a:ext cx="6510528" cy="3657600"/>
          </a:xfrm>
          <a:prstGeom prst="rect">
            <a:avLst/>
          </a:prstGeom>
          <a:solidFill>
            <a:srgbClr val="D6DB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ndr_top_ip_vanburen"/>
          <p:cNvSpPr/>
          <p:nvPr/>
        </p:nvSpPr>
        <p:spPr>
          <a:xfrm>
            <a:off x="1426464" y="1051560"/>
            <a:ext cx="6291072" cy="3383280"/>
          </a:xfrm>
          <a:prstGeom prst="roundRect">
            <a:avLst/>
          </a:prstGeom>
          <a:noFill/>
          <a:ln w="12700" dash="dash">
            <a:solidFill>
              <a:srgbClr val="BFBFB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BFBFBF"/>
                </a:solidFill>
                <a:latin typeface="Calibri"/>
              </a:defRPr>
            </a:pPr>
            <a:r>
              <a:t>[Chart / Image placeholder]</a:t>
            </a:r>
          </a:p>
        </p:txBody>
      </p:sp>
      <p:sp>
        <p:nvSpPr>
          <p:cNvPr id="8" name="footer_bar"/>
          <p:cNvSpPr/>
          <p:nvPr/>
        </p:nvSpPr>
        <p:spPr>
          <a:xfrm>
            <a:off x="0" y="4645152"/>
            <a:ext cx="9144000" cy="502920"/>
          </a:xfrm>
          <a:prstGeom prst="rect">
            <a:avLst/>
          </a:prstGeom>
          <a:solidFill>
            <a:srgbClr val="1B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antix4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4736592"/>
            <a:ext cx="1188720" cy="310896"/>
          </a:xfrm>
          <a:prstGeom prst="rect">
            <a:avLst/>
          </a:prstGeom>
        </p:spPr>
      </p:pic>
      <p:sp>
        <p:nvSpPr>
          <p:cNvPr id="10" name="page_number"/>
          <p:cNvSpPr txBox="1"/>
          <p:nvPr/>
        </p:nvSpPr>
        <p:spPr>
          <a:xfrm>
            <a:off x="8229600" y="4690872"/>
            <a:ext cx="640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_bar"/>
          <p:cNvSpPr/>
          <p:nvPr/>
        </p:nvSpPr>
        <p:spPr>
          <a:xfrm>
            <a:off x="1143000" y="118872"/>
            <a:ext cx="6858000" cy="53035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lide_title"/>
          <p:cNvSpPr txBox="1"/>
          <p:nvPr/>
        </p:nvSpPr>
        <p:spPr>
          <a:xfrm>
            <a:off x="1143000" y="164592"/>
            <a:ext cx="6858000" cy="48463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NDR - VANBUREN - Top URLs by Connection Count</a:t>
            </a:r>
          </a:p>
        </p:txBody>
      </p:sp>
      <p:sp>
        <p:nvSpPr>
          <p:cNvPr id="5" name="accent_line"/>
          <p:cNvSpPr/>
          <p:nvPr/>
        </p:nvSpPr>
        <p:spPr>
          <a:xfrm>
            <a:off x="347472" y="859536"/>
            <a:ext cx="8348471" cy="38100"/>
          </a:xfrm>
          <a:prstGeom prst="rect">
            <a:avLst/>
          </a:prstGeom>
          <a:solidFill>
            <a:srgbClr val="38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art_panel"/>
          <p:cNvSpPr/>
          <p:nvPr/>
        </p:nvSpPr>
        <p:spPr>
          <a:xfrm>
            <a:off x="1316736" y="914400"/>
            <a:ext cx="6510528" cy="3657600"/>
          </a:xfrm>
          <a:prstGeom prst="rect">
            <a:avLst/>
          </a:prstGeom>
          <a:solidFill>
            <a:srgbClr val="D6DB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ndr_top_urls_vanburen"/>
          <p:cNvSpPr/>
          <p:nvPr/>
        </p:nvSpPr>
        <p:spPr>
          <a:xfrm>
            <a:off x="1426464" y="1051560"/>
            <a:ext cx="6291072" cy="3383280"/>
          </a:xfrm>
          <a:prstGeom prst="roundRect">
            <a:avLst/>
          </a:prstGeom>
          <a:noFill/>
          <a:ln w="12700" dash="dash">
            <a:solidFill>
              <a:srgbClr val="BFBFB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BFBFBF"/>
                </a:solidFill>
                <a:latin typeface="Calibri"/>
              </a:defRPr>
            </a:pPr>
            <a:r>
              <a:t>[Chart / Image placeholder]</a:t>
            </a:r>
          </a:p>
        </p:txBody>
      </p:sp>
      <p:sp>
        <p:nvSpPr>
          <p:cNvPr id="8" name="footer_bar"/>
          <p:cNvSpPr/>
          <p:nvPr/>
        </p:nvSpPr>
        <p:spPr>
          <a:xfrm>
            <a:off x="0" y="4645152"/>
            <a:ext cx="9144000" cy="502920"/>
          </a:xfrm>
          <a:prstGeom prst="rect">
            <a:avLst/>
          </a:prstGeom>
          <a:solidFill>
            <a:srgbClr val="1B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antix4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4736592"/>
            <a:ext cx="1188720" cy="310896"/>
          </a:xfrm>
          <a:prstGeom prst="rect">
            <a:avLst/>
          </a:prstGeom>
        </p:spPr>
      </p:pic>
      <p:sp>
        <p:nvSpPr>
          <p:cNvPr id="10" name="page_number"/>
          <p:cNvSpPr txBox="1"/>
          <p:nvPr/>
        </p:nvSpPr>
        <p:spPr>
          <a:xfrm>
            <a:off x="8229600" y="4690872"/>
            <a:ext cx="640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_bar"/>
          <p:cNvSpPr/>
          <p:nvPr/>
        </p:nvSpPr>
        <p:spPr>
          <a:xfrm>
            <a:off x="1143000" y="118872"/>
            <a:ext cx="6858000" cy="53035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lide_title"/>
          <p:cNvSpPr txBox="1"/>
          <p:nvPr/>
        </p:nvSpPr>
        <p:spPr>
          <a:xfrm>
            <a:off x="1143000" y="164592"/>
            <a:ext cx="6858000" cy="48463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NDR - VANBUREN - Top External Destination Receiving Data</a:t>
            </a:r>
          </a:p>
        </p:txBody>
      </p:sp>
      <p:sp>
        <p:nvSpPr>
          <p:cNvPr id="5" name="accent_line"/>
          <p:cNvSpPr/>
          <p:nvPr/>
        </p:nvSpPr>
        <p:spPr>
          <a:xfrm>
            <a:off x="347472" y="859536"/>
            <a:ext cx="8348471" cy="38100"/>
          </a:xfrm>
          <a:prstGeom prst="rect">
            <a:avLst/>
          </a:prstGeom>
          <a:solidFill>
            <a:srgbClr val="38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art_panel"/>
          <p:cNvSpPr/>
          <p:nvPr/>
        </p:nvSpPr>
        <p:spPr>
          <a:xfrm>
            <a:off x="1316736" y="914400"/>
            <a:ext cx="6510528" cy="3657600"/>
          </a:xfrm>
          <a:prstGeom prst="rect">
            <a:avLst/>
          </a:prstGeom>
          <a:solidFill>
            <a:srgbClr val="D6DB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ndr_ext_dest_vanburen"/>
          <p:cNvSpPr/>
          <p:nvPr/>
        </p:nvSpPr>
        <p:spPr>
          <a:xfrm>
            <a:off x="1426464" y="1051560"/>
            <a:ext cx="6291072" cy="3383280"/>
          </a:xfrm>
          <a:prstGeom prst="roundRect">
            <a:avLst/>
          </a:prstGeom>
          <a:noFill/>
          <a:ln w="12700" dash="dash">
            <a:solidFill>
              <a:srgbClr val="BFBFB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BFBFBF"/>
                </a:solidFill>
                <a:latin typeface="Calibri"/>
              </a:defRPr>
            </a:pPr>
            <a:r>
              <a:t>[Chart / Image placeholder]</a:t>
            </a:r>
          </a:p>
        </p:txBody>
      </p:sp>
      <p:sp>
        <p:nvSpPr>
          <p:cNvPr id="8" name="footer_bar"/>
          <p:cNvSpPr/>
          <p:nvPr/>
        </p:nvSpPr>
        <p:spPr>
          <a:xfrm>
            <a:off x="0" y="4645152"/>
            <a:ext cx="9144000" cy="502920"/>
          </a:xfrm>
          <a:prstGeom prst="rect">
            <a:avLst/>
          </a:prstGeom>
          <a:solidFill>
            <a:srgbClr val="1B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antix4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4736592"/>
            <a:ext cx="1188720" cy="310896"/>
          </a:xfrm>
          <a:prstGeom prst="rect">
            <a:avLst/>
          </a:prstGeom>
        </p:spPr>
      </p:pic>
      <p:sp>
        <p:nvSpPr>
          <p:cNvPr id="10" name="page_number"/>
          <p:cNvSpPr txBox="1"/>
          <p:nvPr/>
        </p:nvSpPr>
        <p:spPr>
          <a:xfrm>
            <a:off x="8229600" y="4690872"/>
            <a:ext cx="640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_bar"/>
          <p:cNvSpPr/>
          <p:nvPr/>
        </p:nvSpPr>
        <p:spPr>
          <a:xfrm>
            <a:off x="1143000" y="118872"/>
            <a:ext cx="6858000" cy="53035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lide_title"/>
          <p:cNvSpPr txBox="1"/>
          <p:nvPr/>
        </p:nvSpPr>
        <p:spPr>
          <a:xfrm>
            <a:off x="1143000" y="164592"/>
            <a:ext cx="6858000" cy="48463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NDR - VANBUREN - Country by Connection Count</a:t>
            </a:r>
          </a:p>
        </p:txBody>
      </p:sp>
      <p:sp>
        <p:nvSpPr>
          <p:cNvPr id="5" name="accent_line"/>
          <p:cNvSpPr/>
          <p:nvPr/>
        </p:nvSpPr>
        <p:spPr>
          <a:xfrm>
            <a:off x="347472" y="859536"/>
            <a:ext cx="8348471" cy="38100"/>
          </a:xfrm>
          <a:prstGeom prst="rect">
            <a:avLst/>
          </a:prstGeom>
          <a:solidFill>
            <a:srgbClr val="38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art_panel"/>
          <p:cNvSpPr/>
          <p:nvPr/>
        </p:nvSpPr>
        <p:spPr>
          <a:xfrm>
            <a:off x="1316736" y="914400"/>
            <a:ext cx="6510528" cy="3657600"/>
          </a:xfrm>
          <a:prstGeom prst="rect">
            <a:avLst/>
          </a:prstGeom>
          <a:solidFill>
            <a:srgbClr val="D6DB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ndr_country_vanburen"/>
          <p:cNvSpPr/>
          <p:nvPr/>
        </p:nvSpPr>
        <p:spPr>
          <a:xfrm>
            <a:off x="1426464" y="1051560"/>
            <a:ext cx="6291072" cy="3383280"/>
          </a:xfrm>
          <a:prstGeom prst="roundRect">
            <a:avLst/>
          </a:prstGeom>
          <a:noFill/>
          <a:ln w="12700" dash="dash">
            <a:solidFill>
              <a:srgbClr val="BFBFB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BFBFBF"/>
                </a:solidFill>
                <a:latin typeface="Calibri"/>
              </a:defRPr>
            </a:pPr>
            <a:r>
              <a:t>[Chart / Image placeholder]</a:t>
            </a:r>
          </a:p>
        </p:txBody>
      </p:sp>
      <p:sp>
        <p:nvSpPr>
          <p:cNvPr id="8" name="footer_bar"/>
          <p:cNvSpPr/>
          <p:nvPr/>
        </p:nvSpPr>
        <p:spPr>
          <a:xfrm>
            <a:off x="0" y="4645152"/>
            <a:ext cx="9144000" cy="502920"/>
          </a:xfrm>
          <a:prstGeom prst="rect">
            <a:avLst/>
          </a:prstGeom>
          <a:solidFill>
            <a:srgbClr val="1B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antix4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4736592"/>
            <a:ext cx="1188720" cy="310896"/>
          </a:xfrm>
          <a:prstGeom prst="rect">
            <a:avLst/>
          </a:prstGeom>
        </p:spPr>
      </p:pic>
      <p:sp>
        <p:nvSpPr>
          <p:cNvPr id="10" name="page_number"/>
          <p:cNvSpPr txBox="1"/>
          <p:nvPr/>
        </p:nvSpPr>
        <p:spPr>
          <a:xfrm>
            <a:off x="8229600" y="4690872"/>
            <a:ext cx="640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_bar"/>
          <p:cNvSpPr/>
          <p:nvPr/>
        </p:nvSpPr>
        <p:spPr>
          <a:xfrm>
            <a:off x="1143000" y="118872"/>
            <a:ext cx="6858000" cy="53035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lide_title"/>
          <p:cNvSpPr txBox="1"/>
          <p:nvPr/>
        </p:nvSpPr>
        <p:spPr>
          <a:xfrm>
            <a:off x="1143000" y="164592"/>
            <a:ext cx="6858000" cy="48463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NDR - VANBUREN - Beaconing Score</a:t>
            </a:r>
          </a:p>
        </p:txBody>
      </p:sp>
      <p:sp>
        <p:nvSpPr>
          <p:cNvPr id="5" name="accent_line"/>
          <p:cNvSpPr/>
          <p:nvPr/>
        </p:nvSpPr>
        <p:spPr>
          <a:xfrm>
            <a:off x="347472" y="859536"/>
            <a:ext cx="8348471" cy="38100"/>
          </a:xfrm>
          <a:prstGeom prst="rect">
            <a:avLst/>
          </a:prstGeom>
          <a:solidFill>
            <a:srgbClr val="38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art_panel"/>
          <p:cNvSpPr/>
          <p:nvPr/>
        </p:nvSpPr>
        <p:spPr>
          <a:xfrm>
            <a:off x="1316736" y="914400"/>
            <a:ext cx="6510528" cy="3657600"/>
          </a:xfrm>
          <a:prstGeom prst="rect">
            <a:avLst/>
          </a:prstGeom>
          <a:solidFill>
            <a:srgbClr val="D6DB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ndr_beaconing_vanburen"/>
          <p:cNvSpPr/>
          <p:nvPr/>
        </p:nvSpPr>
        <p:spPr>
          <a:xfrm>
            <a:off x="1426464" y="1051560"/>
            <a:ext cx="6291072" cy="3383280"/>
          </a:xfrm>
          <a:prstGeom prst="roundRect">
            <a:avLst/>
          </a:prstGeom>
          <a:noFill/>
          <a:ln w="12700" dash="dash">
            <a:solidFill>
              <a:srgbClr val="BFBFB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BFBFBF"/>
                </a:solidFill>
                <a:latin typeface="Calibri"/>
              </a:defRPr>
            </a:pPr>
            <a:r>
              <a:t>[Chart / Image placeholder]</a:t>
            </a:r>
          </a:p>
        </p:txBody>
      </p:sp>
      <p:sp>
        <p:nvSpPr>
          <p:cNvPr id="8" name="footer_bar"/>
          <p:cNvSpPr/>
          <p:nvPr/>
        </p:nvSpPr>
        <p:spPr>
          <a:xfrm>
            <a:off x="0" y="4645152"/>
            <a:ext cx="9144000" cy="502920"/>
          </a:xfrm>
          <a:prstGeom prst="rect">
            <a:avLst/>
          </a:prstGeom>
          <a:solidFill>
            <a:srgbClr val="1B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antix4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4736592"/>
            <a:ext cx="1188720" cy="310896"/>
          </a:xfrm>
          <a:prstGeom prst="rect">
            <a:avLst/>
          </a:prstGeom>
        </p:spPr>
      </p:pic>
      <p:sp>
        <p:nvSpPr>
          <p:cNvPr id="10" name="page_number"/>
          <p:cNvSpPr txBox="1"/>
          <p:nvPr/>
        </p:nvSpPr>
        <p:spPr>
          <a:xfrm>
            <a:off x="8229600" y="4690872"/>
            <a:ext cx="640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_bar"/>
          <p:cNvSpPr/>
          <p:nvPr/>
        </p:nvSpPr>
        <p:spPr>
          <a:xfrm>
            <a:off x="1143000" y="118872"/>
            <a:ext cx="6858000" cy="53035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lide_title"/>
          <p:cNvSpPr txBox="1"/>
          <p:nvPr/>
        </p:nvSpPr>
        <p:spPr>
          <a:xfrm>
            <a:off x="1143000" y="164592"/>
            <a:ext cx="6858000" cy="48463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NDR - VANBUREN - Sensitive Data</a:t>
            </a:r>
          </a:p>
        </p:txBody>
      </p:sp>
      <p:sp>
        <p:nvSpPr>
          <p:cNvPr id="5" name="accent_line"/>
          <p:cNvSpPr/>
          <p:nvPr/>
        </p:nvSpPr>
        <p:spPr>
          <a:xfrm>
            <a:off x="347472" y="859536"/>
            <a:ext cx="8348471" cy="38100"/>
          </a:xfrm>
          <a:prstGeom prst="rect">
            <a:avLst/>
          </a:prstGeom>
          <a:solidFill>
            <a:srgbClr val="38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art_panel"/>
          <p:cNvSpPr/>
          <p:nvPr/>
        </p:nvSpPr>
        <p:spPr>
          <a:xfrm>
            <a:off x="1316736" y="914400"/>
            <a:ext cx="6510528" cy="3657600"/>
          </a:xfrm>
          <a:prstGeom prst="rect">
            <a:avLst/>
          </a:prstGeom>
          <a:solidFill>
            <a:srgbClr val="D6DB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ndr_sensitive_data_vanburen"/>
          <p:cNvSpPr/>
          <p:nvPr/>
        </p:nvSpPr>
        <p:spPr>
          <a:xfrm>
            <a:off x="1426464" y="1051560"/>
            <a:ext cx="6291072" cy="3383280"/>
          </a:xfrm>
          <a:prstGeom prst="roundRect">
            <a:avLst/>
          </a:prstGeom>
          <a:noFill/>
          <a:ln w="12700" dash="dash">
            <a:solidFill>
              <a:srgbClr val="BFBFB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BFBFBF"/>
                </a:solidFill>
                <a:latin typeface="Calibri"/>
              </a:defRPr>
            </a:pPr>
            <a:r>
              <a:t>[Chart / Image placeholder]</a:t>
            </a:r>
          </a:p>
        </p:txBody>
      </p:sp>
      <p:sp>
        <p:nvSpPr>
          <p:cNvPr id="8" name="footer_bar"/>
          <p:cNvSpPr/>
          <p:nvPr/>
        </p:nvSpPr>
        <p:spPr>
          <a:xfrm>
            <a:off x="0" y="4645152"/>
            <a:ext cx="9144000" cy="502920"/>
          </a:xfrm>
          <a:prstGeom prst="rect">
            <a:avLst/>
          </a:prstGeom>
          <a:solidFill>
            <a:srgbClr val="1B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antix4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4736592"/>
            <a:ext cx="1188720" cy="310896"/>
          </a:xfrm>
          <a:prstGeom prst="rect">
            <a:avLst/>
          </a:prstGeom>
        </p:spPr>
      </p:pic>
      <p:sp>
        <p:nvSpPr>
          <p:cNvPr id="10" name="page_number"/>
          <p:cNvSpPr txBox="1"/>
          <p:nvPr/>
        </p:nvSpPr>
        <p:spPr>
          <a:xfrm>
            <a:off x="8229600" y="4690872"/>
            <a:ext cx="640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_bar"/>
          <p:cNvSpPr/>
          <p:nvPr/>
        </p:nvSpPr>
        <p:spPr>
          <a:xfrm>
            <a:off x="1143000" y="118872"/>
            <a:ext cx="6858000" cy="53035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lide_title"/>
          <p:cNvSpPr txBox="1"/>
          <p:nvPr/>
        </p:nvSpPr>
        <p:spPr>
          <a:xfrm>
            <a:off x="1143000" y="164592"/>
            <a:ext cx="6858000" cy="48463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Internal Network Vulnerabilities - VANBUREN</a:t>
            </a:r>
          </a:p>
        </p:txBody>
      </p:sp>
      <p:sp>
        <p:nvSpPr>
          <p:cNvPr id="5" name="accent_line"/>
          <p:cNvSpPr/>
          <p:nvPr/>
        </p:nvSpPr>
        <p:spPr>
          <a:xfrm>
            <a:off x="347472" y="859536"/>
            <a:ext cx="8348471" cy="38100"/>
          </a:xfrm>
          <a:prstGeom prst="rect">
            <a:avLst/>
          </a:prstGeom>
          <a:solidFill>
            <a:srgbClr val="38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ontent_panel"/>
          <p:cNvSpPr/>
          <p:nvPr/>
        </p:nvSpPr>
        <p:spPr>
          <a:xfrm>
            <a:off x="1316736" y="1005840"/>
            <a:ext cx="6510528" cy="3639312"/>
          </a:xfrm>
          <a:prstGeom prst="rect">
            <a:avLst/>
          </a:prstGeom>
          <a:solidFill>
            <a:srgbClr val="D6DB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nternal_vulns_intro_vanburen"/>
          <p:cNvSpPr txBox="1"/>
          <p:nvPr/>
        </p:nvSpPr>
        <p:spPr>
          <a:xfrm>
            <a:off x="1499616" y="1097280"/>
            <a:ext cx="6144768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1B212C"/>
                </a:solidFill>
                <a:latin typeface="Calibri"/>
              </a:defRPr>
            </a:pPr>
            <a:r>
              <a:t>The internal network subnets were scanned for network vulnerabilities (not host-based software vulnerabilities) from the Mantix4 Sensor. The following were identified (Reported as [Category] [Protocol] [Severity] Issue Description):</a:t>
            </a:r>
          </a:p>
        </p:txBody>
      </p:sp>
      <p:sp>
        <p:nvSpPr>
          <p:cNvPr id="8" name="internal_vulns_content_vanburen"/>
          <p:cNvSpPr/>
          <p:nvPr/>
        </p:nvSpPr>
        <p:spPr>
          <a:xfrm>
            <a:off x="1499616" y="1828800"/>
            <a:ext cx="6144768" cy="2606040"/>
          </a:xfrm>
          <a:prstGeom prst="roundRect">
            <a:avLst/>
          </a:prstGeom>
          <a:noFill/>
          <a:ln w="12700" dash="dash">
            <a:solidFill>
              <a:srgbClr val="BFBFB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BFBFBF"/>
                </a:solidFill>
                <a:latin typeface="Calibri"/>
              </a:defRPr>
            </a:pPr>
            <a:r>
              <a:t>[Vulnerability findings to be populated]</a:t>
            </a:r>
          </a:p>
        </p:txBody>
      </p:sp>
      <p:sp>
        <p:nvSpPr>
          <p:cNvPr id="9" name="footer_bar"/>
          <p:cNvSpPr/>
          <p:nvPr/>
        </p:nvSpPr>
        <p:spPr>
          <a:xfrm>
            <a:off x="0" y="4645152"/>
            <a:ext cx="9144000" cy="502920"/>
          </a:xfrm>
          <a:prstGeom prst="rect">
            <a:avLst/>
          </a:prstGeom>
          <a:solidFill>
            <a:srgbClr val="1B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antix4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4736592"/>
            <a:ext cx="1188720" cy="310896"/>
          </a:xfrm>
          <a:prstGeom prst="rect">
            <a:avLst/>
          </a:prstGeom>
        </p:spPr>
      </p:pic>
      <p:sp>
        <p:nvSpPr>
          <p:cNvPr id="11" name="page_number"/>
          <p:cNvSpPr txBox="1"/>
          <p:nvPr/>
        </p:nvSpPr>
        <p:spPr>
          <a:xfrm>
            <a:off x="8229600" y="4690872"/>
            <a:ext cx="640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_bar"/>
          <p:cNvSpPr/>
          <p:nvPr/>
        </p:nvSpPr>
        <p:spPr>
          <a:xfrm>
            <a:off x="1143000" y="118872"/>
            <a:ext cx="6858000" cy="53035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lide_title"/>
          <p:cNvSpPr txBox="1"/>
          <p:nvPr/>
        </p:nvSpPr>
        <p:spPr>
          <a:xfrm>
            <a:off x="1143000" y="164592"/>
            <a:ext cx="6858000" cy="48463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Internal Network Mitigation - VANBUREN</a:t>
            </a:r>
          </a:p>
        </p:txBody>
      </p:sp>
      <p:sp>
        <p:nvSpPr>
          <p:cNvPr id="5" name="accent_line"/>
          <p:cNvSpPr/>
          <p:nvPr/>
        </p:nvSpPr>
        <p:spPr>
          <a:xfrm>
            <a:off x="347472" y="859536"/>
            <a:ext cx="8348471" cy="38100"/>
          </a:xfrm>
          <a:prstGeom prst="rect">
            <a:avLst/>
          </a:prstGeom>
          <a:solidFill>
            <a:srgbClr val="38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ontent_panel"/>
          <p:cNvSpPr/>
          <p:nvPr/>
        </p:nvSpPr>
        <p:spPr>
          <a:xfrm>
            <a:off x="1316736" y="1005840"/>
            <a:ext cx="6510528" cy="3639312"/>
          </a:xfrm>
          <a:prstGeom prst="rect">
            <a:avLst/>
          </a:prstGeom>
          <a:solidFill>
            <a:srgbClr val="D6DB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nternal_mitigation_intro_vanburen"/>
          <p:cNvSpPr txBox="1"/>
          <p:nvPr/>
        </p:nvSpPr>
        <p:spPr>
          <a:xfrm>
            <a:off x="1499616" y="1097280"/>
            <a:ext cx="6144768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1B212C"/>
                </a:solidFill>
                <a:latin typeface="Calibri"/>
              </a:defRPr>
            </a:pPr>
            <a:r>
              <a:t>The following mitigation actions are recommended based on the network vulnerability findings identified during the reporting period:</a:t>
            </a:r>
          </a:p>
        </p:txBody>
      </p:sp>
      <p:sp>
        <p:nvSpPr>
          <p:cNvPr id="8" name="internal_mitigation_content_vanburen"/>
          <p:cNvSpPr/>
          <p:nvPr/>
        </p:nvSpPr>
        <p:spPr>
          <a:xfrm>
            <a:off x="1499616" y="1828800"/>
            <a:ext cx="6144768" cy="2606040"/>
          </a:xfrm>
          <a:prstGeom prst="roundRect">
            <a:avLst/>
          </a:prstGeom>
          <a:noFill/>
          <a:ln w="12700" dash="dash">
            <a:solidFill>
              <a:srgbClr val="BFBFB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BFBFBF"/>
                </a:solidFill>
                <a:latin typeface="Calibri"/>
              </a:defRPr>
            </a:pPr>
            <a:r>
              <a:t>[Mitigation recommendations to be populated]</a:t>
            </a:r>
          </a:p>
        </p:txBody>
      </p:sp>
      <p:sp>
        <p:nvSpPr>
          <p:cNvPr id="9" name="footer_bar"/>
          <p:cNvSpPr/>
          <p:nvPr/>
        </p:nvSpPr>
        <p:spPr>
          <a:xfrm>
            <a:off x="0" y="4645152"/>
            <a:ext cx="9144000" cy="502920"/>
          </a:xfrm>
          <a:prstGeom prst="rect">
            <a:avLst/>
          </a:prstGeom>
          <a:solidFill>
            <a:srgbClr val="1B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antix4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4736592"/>
            <a:ext cx="1188720" cy="310896"/>
          </a:xfrm>
          <a:prstGeom prst="rect">
            <a:avLst/>
          </a:prstGeom>
        </p:spPr>
      </p:pic>
      <p:sp>
        <p:nvSpPr>
          <p:cNvPr id="11" name="page_number"/>
          <p:cNvSpPr txBox="1"/>
          <p:nvPr/>
        </p:nvSpPr>
        <p:spPr>
          <a:xfrm>
            <a:off x="8229600" y="4690872"/>
            <a:ext cx="640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_bar"/>
          <p:cNvSpPr/>
          <p:nvPr/>
        </p:nvSpPr>
        <p:spPr>
          <a:xfrm>
            <a:off x="2057400" y="118872"/>
            <a:ext cx="5029200" cy="53035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lide_title"/>
          <p:cNvSpPr txBox="1"/>
          <p:nvPr/>
        </p:nvSpPr>
        <p:spPr>
          <a:xfrm>
            <a:off x="2057400" y="164592"/>
            <a:ext cx="5029200" cy="48463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Required Software Patches</a:t>
            </a:r>
          </a:p>
        </p:txBody>
      </p:sp>
      <p:sp>
        <p:nvSpPr>
          <p:cNvPr id="5" name="accent_line"/>
          <p:cNvSpPr/>
          <p:nvPr/>
        </p:nvSpPr>
        <p:spPr>
          <a:xfrm>
            <a:off x="347472" y="859536"/>
            <a:ext cx="8348471" cy="38100"/>
          </a:xfrm>
          <a:prstGeom prst="rect">
            <a:avLst/>
          </a:prstGeom>
          <a:solidFill>
            <a:srgbClr val="38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ontent_panel"/>
          <p:cNvSpPr/>
          <p:nvPr/>
        </p:nvSpPr>
        <p:spPr>
          <a:xfrm>
            <a:off x="1316736" y="1005840"/>
            <a:ext cx="6510528" cy="3639312"/>
          </a:xfrm>
          <a:prstGeom prst="rect">
            <a:avLst/>
          </a:prstGeom>
          <a:solidFill>
            <a:srgbClr val="D6DB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quired_patches_body"/>
          <p:cNvSpPr txBox="1"/>
          <p:nvPr/>
        </p:nvSpPr>
        <p:spPr>
          <a:xfrm>
            <a:off x="1545336" y="1115568"/>
            <a:ext cx="6053328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800"/>
              </a:spcBef>
              <a:spcAft>
                <a:spcPts val="600"/>
              </a:spcAft>
              <a:defRPr sz="1300" b="0">
                <a:solidFill>
                  <a:srgbClr val="1B212C"/>
                </a:solidFill>
                <a:latin typeface="Calibri"/>
              </a:defRPr>
            </a:pPr>
            <a:r>
              <a:t>•  There are currently [Count] Microsoft KB patches that need to be deployed.</a:t>
            </a:r>
          </a:p>
          <a:p>
            <a:pPr>
              <a:spcBef>
                <a:spcPts val="800"/>
              </a:spcBef>
              <a:spcAft>
                <a:spcPts val="600"/>
              </a:spcAft>
              <a:defRPr sz="1300">
                <a:solidFill>
                  <a:srgbClr val="1B212C"/>
                </a:solidFill>
                <a:latin typeface="Calibri"/>
              </a:defRPr>
            </a:pPr>
            <a:r>
              <a:t>•  There are [Count] software packages that require updating. Patching should be done with caution to ensure systems and applications are not negatively impacted.</a:t>
            </a:r>
          </a:p>
        </p:txBody>
      </p:sp>
      <p:sp>
        <p:nvSpPr>
          <p:cNvPr id="8" name="required_patches_chart"/>
          <p:cNvSpPr/>
          <p:nvPr/>
        </p:nvSpPr>
        <p:spPr>
          <a:xfrm>
            <a:off x="1545336" y="2217420"/>
            <a:ext cx="6053328" cy="2011680"/>
          </a:xfrm>
          <a:prstGeom prst="roundRect">
            <a:avLst/>
          </a:prstGeom>
          <a:noFill/>
          <a:ln w="12700" dash="dash">
            <a:solidFill>
              <a:srgbClr val="BFBFB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BFBFBF"/>
                </a:solidFill>
                <a:latin typeface="Calibri"/>
              </a:defRPr>
            </a:pPr>
            <a:r>
              <a:t>[Patch trend chart placeholder]</a:t>
            </a:r>
          </a:p>
        </p:txBody>
      </p:sp>
      <p:sp>
        <p:nvSpPr>
          <p:cNvPr id="9" name="footer_bar"/>
          <p:cNvSpPr/>
          <p:nvPr/>
        </p:nvSpPr>
        <p:spPr>
          <a:xfrm>
            <a:off x="0" y="4645152"/>
            <a:ext cx="9144000" cy="502920"/>
          </a:xfrm>
          <a:prstGeom prst="rect">
            <a:avLst/>
          </a:prstGeom>
          <a:solidFill>
            <a:srgbClr val="1B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antix4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4736592"/>
            <a:ext cx="1188720" cy="310896"/>
          </a:xfrm>
          <a:prstGeom prst="rect">
            <a:avLst/>
          </a:prstGeom>
        </p:spPr>
      </p:pic>
      <p:sp>
        <p:nvSpPr>
          <p:cNvPr id="11" name="page_number"/>
          <p:cNvSpPr txBox="1"/>
          <p:nvPr/>
        </p:nvSpPr>
        <p:spPr>
          <a:xfrm>
            <a:off x="8229600" y="4690872"/>
            <a:ext cx="640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_bar"/>
          <p:cNvSpPr/>
          <p:nvPr/>
        </p:nvSpPr>
        <p:spPr>
          <a:xfrm>
            <a:off x="2057400" y="118872"/>
            <a:ext cx="5029200" cy="53035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lide_title"/>
          <p:cNvSpPr txBox="1"/>
          <p:nvPr/>
        </p:nvSpPr>
        <p:spPr>
          <a:xfrm>
            <a:off x="2057400" y="164592"/>
            <a:ext cx="5029200" cy="48463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Top Software Patches</a:t>
            </a:r>
          </a:p>
        </p:txBody>
      </p:sp>
      <p:sp>
        <p:nvSpPr>
          <p:cNvPr id="5" name="accent_line"/>
          <p:cNvSpPr/>
          <p:nvPr/>
        </p:nvSpPr>
        <p:spPr>
          <a:xfrm>
            <a:off x="347472" y="859536"/>
            <a:ext cx="8348471" cy="38100"/>
          </a:xfrm>
          <a:prstGeom prst="rect">
            <a:avLst/>
          </a:prstGeom>
          <a:solidFill>
            <a:srgbClr val="38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oftware_patches_table_note_panel"/>
          <p:cNvSpPr/>
          <p:nvPr/>
        </p:nvSpPr>
        <p:spPr>
          <a:xfrm>
            <a:off x="1316736" y="4114800"/>
            <a:ext cx="6510528" cy="457200"/>
          </a:xfrm>
          <a:prstGeom prst="rect">
            <a:avLst/>
          </a:prstGeom>
          <a:solidFill>
            <a:srgbClr val="D6DB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software_patches_table_note"/>
          <p:cNvSpPr txBox="1"/>
          <p:nvPr/>
        </p:nvSpPr>
        <p:spPr>
          <a:xfrm>
            <a:off x="1426464" y="4160520"/>
            <a:ext cx="629107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1B212C"/>
                </a:solidFill>
                <a:latin typeface="Calibri"/>
              </a:defRPr>
            </a:pPr>
            <a:r>
              <a:t>Note: All patching, particularly on servers, should be done with caution. Patches should be tested, and they should be assessed for compatibility prior to deployment.</a:t>
            </a:r>
          </a:p>
        </p:txBody>
      </p:sp>
      <p:graphicFrame>
        <p:nvGraphicFramePr>
          <p:cNvPr id="8" name="software_patches_table"/>
          <p:cNvGraphicFramePr>
            <a:graphicFrameLocks noGrp="1"/>
          </p:cNvGraphicFramePr>
          <p:nvPr/>
        </p:nvGraphicFramePr>
        <p:xfrm>
          <a:off x="347472" y="1005840"/>
          <a:ext cx="8357616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78808"/>
                <a:gridCol w="4178808"/>
              </a:tblGrid>
              <a:tr h="4953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Package Name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Recommended Action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0B539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0B5394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3D85C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3D85C6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0B539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0B5394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3D85C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3D85C6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0B539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0B5394"/>
                    </a:solidFill>
                  </a:tcPr>
                </a:tc>
              </a:tr>
            </a:tbl>
          </a:graphicData>
        </a:graphic>
      </p:graphicFrame>
      <p:sp>
        <p:nvSpPr>
          <p:cNvPr id="9" name="footer_bar"/>
          <p:cNvSpPr/>
          <p:nvPr/>
        </p:nvSpPr>
        <p:spPr>
          <a:xfrm>
            <a:off x="0" y="4645152"/>
            <a:ext cx="9144000" cy="502920"/>
          </a:xfrm>
          <a:prstGeom prst="rect">
            <a:avLst/>
          </a:prstGeom>
          <a:solidFill>
            <a:srgbClr val="1B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antix4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4736592"/>
            <a:ext cx="1188720" cy="310896"/>
          </a:xfrm>
          <a:prstGeom prst="rect">
            <a:avLst/>
          </a:prstGeom>
        </p:spPr>
      </p:pic>
      <p:sp>
        <p:nvSpPr>
          <p:cNvPr id="11" name="page_number"/>
          <p:cNvSpPr txBox="1"/>
          <p:nvPr/>
        </p:nvSpPr>
        <p:spPr>
          <a:xfrm>
            <a:off x="8229600" y="4690872"/>
            <a:ext cx="640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_bar"/>
          <p:cNvSpPr/>
          <p:nvPr/>
        </p:nvSpPr>
        <p:spPr>
          <a:xfrm>
            <a:off x="2057400" y="118872"/>
            <a:ext cx="5029200" cy="53035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lide_title"/>
          <p:cNvSpPr txBox="1"/>
          <p:nvPr/>
        </p:nvSpPr>
        <p:spPr>
          <a:xfrm>
            <a:off x="2057400" y="164592"/>
            <a:ext cx="5029200" cy="48463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Top Microsoft Patches</a:t>
            </a:r>
          </a:p>
        </p:txBody>
      </p:sp>
      <p:sp>
        <p:nvSpPr>
          <p:cNvPr id="5" name="accent_line"/>
          <p:cNvSpPr/>
          <p:nvPr/>
        </p:nvSpPr>
        <p:spPr>
          <a:xfrm>
            <a:off x="347472" y="859536"/>
            <a:ext cx="8348471" cy="38100"/>
          </a:xfrm>
          <a:prstGeom prst="rect">
            <a:avLst/>
          </a:prstGeom>
          <a:solidFill>
            <a:srgbClr val="38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ms_patches_table_note_panel"/>
          <p:cNvSpPr/>
          <p:nvPr/>
        </p:nvSpPr>
        <p:spPr>
          <a:xfrm>
            <a:off x="1316736" y="4114800"/>
            <a:ext cx="6510528" cy="457200"/>
          </a:xfrm>
          <a:prstGeom prst="rect">
            <a:avLst/>
          </a:prstGeom>
          <a:solidFill>
            <a:srgbClr val="D6DB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ms_patches_table_note"/>
          <p:cNvSpPr txBox="1"/>
          <p:nvPr/>
        </p:nvSpPr>
        <p:spPr>
          <a:xfrm>
            <a:off x="1426464" y="4160520"/>
            <a:ext cx="629107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1B212C"/>
                </a:solidFill>
                <a:latin typeface="Calibri"/>
              </a:defRPr>
            </a:pPr>
            <a:r>
              <a:t>Note: All patching, particularly on servers, should be done with caution. Patches should be tested, and they should be assessed for compatibility prior to deployment.</a:t>
            </a:r>
          </a:p>
        </p:txBody>
      </p:sp>
      <p:graphicFrame>
        <p:nvGraphicFramePr>
          <p:cNvPr id="8" name="ms_patches_table"/>
          <p:cNvGraphicFramePr>
            <a:graphicFrameLocks noGrp="1"/>
          </p:cNvGraphicFramePr>
          <p:nvPr/>
        </p:nvGraphicFramePr>
        <p:xfrm>
          <a:off x="347472" y="1005840"/>
          <a:ext cx="8357616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78808"/>
                <a:gridCol w="4178808"/>
              </a:tblGrid>
              <a:tr h="4953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Package Name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KB Patch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0B539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0B5394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3D85C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3D85C6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0B539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0B5394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3D85C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3D85C6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0B539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0B5394"/>
                    </a:solidFill>
                  </a:tcPr>
                </a:tc>
              </a:tr>
            </a:tbl>
          </a:graphicData>
        </a:graphic>
      </p:graphicFrame>
      <p:sp>
        <p:nvSpPr>
          <p:cNvPr id="9" name="footer_bar"/>
          <p:cNvSpPr/>
          <p:nvPr/>
        </p:nvSpPr>
        <p:spPr>
          <a:xfrm>
            <a:off x="0" y="4645152"/>
            <a:ext cx="9144000" cy="502920"/>
          </a:xfrm>
          <a:prstGeom prst="rect">
            <a:avLst/>
          </a:prstGeom>
          <a:solidFill>
            <a:srgbClr val="1B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antix4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4736592"/>
            <a:ext cx="1188720" cy="310896"/>
          </a:xfrm>
          <a:prstGeom prst="rect">
            <a:avLst/>
          </a:prstGeom>
        </p:spPr>
      </p:pic>
      <p:sp>
        <p:nvSpPr>
          <p:cNvPr id="11" name="page_number"/>
          <p:cNvSpPr txBox="1"/>
          <p:nvPr/>
        </p:nvSpPr>
        <p:spPr>
          <a:xfrm>
            <a:off x="8229600" y="4690872"/>
            <a:ext cx="640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_bar"/>
          <p:cNvSpPr/>
          <p:nvPr/>
        </p:nvSpPr>
        <p:spPr>
          <a:xfrm>
            <a:off x="1143000" y="118872"/>
            <a:ext cx="6858000" cy="53035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lide_title"/>
          <p:cNvSpPr txBox="1"/>
          <p:nvPr/>
        </p:nvSpPr>
        <p:spPr>
          <a:xfrm>
            <a:off x="1143000" y="164592"/>
            <a:ext cx="6858000" cy="48463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Internal Network Vulnerabilities</a:t>
            </a:r>
          </a:p>
        </p:txBody>
      </p:sp>
      <p:sp>
        <p:nvSpPr>
          <p:cNvPr id="5" name="accent_line"/>
          <p:cNvSpPr/>
          <p:nvPr/>
        </p:nvSpPr>
        <p:spPr>
          <a:xfrm>
            <a:off x="347472" y="859536"/>
            <a:ext cx="8348471" cy="38100"/>
          </a:xfrm>
          <a:prstGeom prst="rect">
            <a:avLst/>
          </a:prstGeom>
          <a:solidFill>
            <a:srgbClr val="38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ontent_panel"/>
          <p:cNvSpPr/>
          <p:nvPr/>
        </p:nvSpPr>
        <p:spPr>
          <a:xfrm>
            <a:off x="1316736" y="1005840"/>
            <a:ext cx="6510528" cy="3639312"/>
          </a:xfrm>
          <a:prstGeom prst="rect">
            <a:avLst/>
          </a:prstGeom>
          <a:solidFill>
            <a:srgbClr val="D6DB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nternal_vulns_intro"/>
          <p:cNvSpPr txBox="1"/>
          <p:nvPr/>
        </p:nvSpPr>
        <p:spPr>
          <a:xfrm>
            <a:off x="1499616" y="1097280"/>
            <a:ext cx="6144768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1B212C"/>
                </a:solidFill>
                <a:latin typeface="Calibri"/>
              </a:defRPr>
            </a:pPr>
            <a:r>
              <a:t>The internal network subnets were scanned for network vulnerabilities (not host-based software vulnerabilities) from the Mantix4 Sensor. The following were identified (Reported as [Category] [Protocol] [Severity] Issue Description):</a:t>
            </a:r>
          </a:p>
        </p:txBody>
      </p:sp>
      <p:sp>
        <p:nvSpPr>
          <p:cNvPr id="8" name="internal_vulns_content"/>
          <p:cNvSpPr/>
          <p:nvPr/>
        </p:nvSpPr>
        <p:spPr>
          <a:xfrm>
            <a:off x="1499616" y="1828800"/>
            <a:ext cx="6144768" cy="2606040"/>
          </a:xfrm>
          <a:prstGeom prst="roundRect">
            <a:avLst/>
          </a:prstGeom>
          <a:noFill/>
          <a:ln w="12700" dash="dash">
            <a:solidFill>
              <a:srgbClr val="BFBFB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BFBFBF"/>
                </a:solidFill>
                <a:latin typeface="Calibri"/>
              </a:defRPr>
            </a:pPr>
            <a:r>
              <a:t>[Vulnerability findings to be populated]</a:t>
            </a:r>
          </a:p>
        </p:txBody>
      </p:sp>
      <p:sp>
        <p:nvSpPr>
          <p:cNvPr id="9" name="footer_bar"/>
          <p:cNvSpPr/>
          <p:nvPr/>
        </p:nvSpPr>
        <p:spPr>
          <a:xfrm>
            <a:off x="0" y="4645152"/>
            <a:ext cx="9144000" cy="502920"/>
          </a:xfrm>
          <a:prstGeom prst="rect">
            <a:avLst/>
          </a:prstGeom>
          <a:solidFill>
            <a:srgbClr val="1B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antix4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4736592"/>
            <a:ext cx="1188720" cy="310896"/>
          </a:xfrm>
          <a:prstGeom prst="rect">
            <a:avLst/>
          </a:prstGeom>
        </p:spPr>
      </p:pic>
      <p:sp>
        <p:nvSpPr>
          <p:cNvPr id="11" name="page_number"/>
          <p:cNvSpPr txBox="1"/>
          <p:nvPr/>
        </p:nvSpPr>
        <p:spPr>
          <a:xfrm>
            <a:off x="8229600" y="4690872"/>
            <a:ext cx="640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_bar"/>
          <p:cNvSpPr/>
          <p:nvPr/>
        </p:nvSpPr>
        <p:spPr>
          <a:xfrm>
            <a:off x="1143000" y="118872"/>
            <a:ext cx="6858000" cy="53035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lide_title"/>
          <p:cNvSpPr txBox="1"/>
          <p:nvPr/>
        </p:nvSpPr>
        <p:spPr>
          <a:xfrm>
            <a:off x="1143000" y="164592"/>
            <a:ext cx="6858000" cy="48463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Internal Network Mitigation</a:t>
            </a:r>
          </a:p>
        </p:txBody>
      </p:sp>
      <p:sp>
        <p:nvSpPr>
          <p:cNvPr id="5" name="accent_line"/>
          <p:cNvSpPr/>
          <p:nvPr/>
        </p:nvSpPr>
        <p:spPr>
          <a:xfrm>
            <a:off x="347472" y="859536"/>
            <a:ext cx="8348471" cy="38100"/>
          </a:xfrm>
          <a:prstGeom prst="rect">
            <a:avLst/>
          </a:prstGeom>
          <a:solidFill>
            <a:srgbClr val="38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ontent_panel"/>
          <p:cNvSpPr/>
          <p:nvPr/>
        </p:nvSpPr>
        <p:spPr>
          <a:xfrm>
            <a:off x="1316736" y="1005840"/>
            <a:ext cx="6510528" cy="3639312"/>
          </a:xfrm>
          <a:prstGeom prst="rect">
            <a:avLst/>
          </a:prstGeom>
          <a:solidFill>
            <a:srgbClr val="D6DB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nternal_mitigation_intro"/>
          <p:cNvSpPr txBox="1"/>
          <p:nvPr/>
        </p:nvSpPr>
        <p:spPr>
          <a:xfrm>
            <a:off x="1499616" y="1097280"/>
            <a:ext cx="6144768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1B212C"/>
                </a:solidFill>
                <a:latin typeface="Calibri"/>
              </a:defRPr>
            </a:pPr>
            <a:r>
              <a:t>The following mitigation actions are recommended based on the network vulnerability findings identified during the reporting period:</a:t>
            </a:r>
          </a:p>
        </p:txBody>
      </p:sp>
      <p:sp>
        <p:nvSpPr>
          <p:cNvPr id="8" name="internal_mitigation_content"/>
          <p:cNvSpPr/>
          <p:nvPr/>
        </p:nvSpPr>
        <p:spPr>
          <a:xfrm>
            <a:off x="1499616" y="1828800"/>
            <a:ext cx="6144768" cy="2606040"/>
          </a:xfrm>
          <a:prstGeom prst="roundRect">
            <a:avLst/>
          </a:prstGeom>
          <a:noFill/>
          <a:ln w="12700" dash="dash">
            <a:solidFill>
              <a:srgbClr val="BFBFB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BFBFBF"/>
                </a:solidFill>
                <a:latin typeface="Calibri"/>
              </a:defRPr>
            </a:pPr>
            <a:r>
              <a:t>[Mitigation recommendations to be populated]</a:t>
            </a:r>
          </a:p>
        </p:txBody>
      </p:sp>
      <p:sp>
        <p:nvSpPr>
          <p:cNvPr id="9" name="footer_bar"/>
          <p:cNvSpPr/>
          <p:nvPr/>
        </p:nvSpPr>
        <p:spPr>
          <a:xfrm>
            <a:off x="0" y="4645152"/>
            <a:ext cx="9144000" cy="502920"/>
          </a:xfrm>
          <a:prstGeom prst="rect">
            <a:avLst/>
          </a:prstGeom>
          <a:solidFill>
            <a:srgbClr val="1B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antix4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4736592"/>
            <a:ext cx="1188720" cy="310896"/>
          </a:xfrm>
          <a:prstGeom prst="rect">
            <a:avLst/>
          </a:prstGeom>
        </p:spPr>
      </p:pic>
      <p:sp>
        <p:nvSpPr>
          <p:cNvPr id="11" name="page_number"/>
          <p:cNvSpPr txBox="1"/>
          <p:nvPr/>
        </p:nvSpPr>
        <p:spPr>
          <a:xfrm>
            <a:off x="8229600" y="4690872"/>
            <a:ext cx="640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