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over_border"/>
          <p:cNvSpPr/>
          <p:nvPr/>
        </p:nvSpPr>
        <p:spPr>
          <a:xfrm>
            <a:off x="850392" y="1161288"/>
            <a:ext cx="7443216" cy="3236976"/>
          </a:xfrm>
          <a:prstGeom prst="rect">
            <a:avLst/>
          </a:prstGeom>
          <a:solidFill>
            <a:srgbClr val="D6DBDF"/>
          </a:solidFill>
          <a:ln w="25400">
            <a:solidFill>
              <a:srgbClr val="1880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417320"/>
            <a:ext cx="2834640" cy="731520"/>
          </a:xfrm>
          <a:prstGeom prst="rect">
            <a:avLst/>
          </a:prstGeom>
        </p:spPr>
      </p:pic>
      <p:sp>
        <p:nvSpPr>
          <p:cNvPr id="5" name="cover_title"/>
          <p:cNvSpPr txBox="1"/>
          <p:nvPr/>
        </p:nvSpPr>
        <p:spPr>
          <a:xfrm>
            <a:off x="1371600" y="23317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Managed Security Service</a:t>
            </a:r>
          </a:p>
        </p:txBody>
      </p:sp>
      <p:sp>
        <p:nvSpPr>
          <p:cNvPr id="6" name="client_name"/>
          <p:cNvSpPr txBox="1"/>
          <p:nvPr/>
        </p:nvSpPr>
        <p:spPr>
          <a:xfrm>
            <a:off x="1371600" y="2788920"/>
            <a:ext cx="64008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1">
                <a:solidFill>
                  <a:srgbClr val="1B212C"/>
                </a:solidFill>
                <a:latin typeface="Calibri"/>
              </a:defRPr>
            </a:pPr>
            <a:r>
              <a:t>[Client Name]</a:t>
            </a:r>
          </a:p>
        </p:txBody>
      </p:sp>
      <p:sp>
        <p:nvSpPr>
          <p:cNvPr id="7" name="reporting_period"/>
          <p:cNvSpPr txBox="1"/>
          <p:nvPr/>
        </p:nvSpPr>
        <p:spPr>
          <a:xfrm>
            <a:off x="1371600" y="3246120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Reporting Period: [Start Date] to [End Date]</a:t>
            </a:r>
          </a:p>
        </p:txBody>
      </p:sp>
      <p:sp>
        <p:nvSpPr>
          <p:cNvPr id="8" name="confidential_label"/>
          <p:cNvSpPr txBox="1"/>
          <p:nvPr/>
        </p:nvSpPr>
        <p:spPr>
          <a:xfrm>
            <a:off x="1371600" y="3749039"/>
            <a:ext cx="64008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1B212C"/>
                </a:solidFill>
                <a:latin typeface="Calibri"/>
              </a:defRPr>
            </a:pPr>
            <a:r>
              <a:t>CLIENT CONFIDENTIAL</a:t>
            </a:r>
          </a:p>
        </p:txBody>
      </p:sp>
      <p:sp>
        <p:nvSpPr>
          <p:cNvPr id="9" name="Rectangle 8"/>
          <p:cNvSpPr/>
          <p:nvPr/>
        </p:nvSpPr>
        <p:spPr>
          <a:xfrm>
            <a:off x="8476488" y="4663440"/>
            <a:ext cx="548640" cy="39319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ge_number"/>
          <p:cNvSpPr txBox="1"/>
          <p:nvPr/>
        </p:nvSpPr>
        <p:spPr>
          <a:xfrm>
            <a:off x="8476488" y="4681728"/>
            <a:ext cx="5029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Report Introduction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ro_body"/>
          <p:cNvSpPr txBox="1"/>
          <p:nvPr/>
        </p:nvSpPr>
        <p:spPr>
          <a:xfrm>
            <a:off x="1499616" y="1143000"/>
            <a:ext cx="6144768" cy="33649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This monthly cyber security report highlights areas that require attention and / or mitigation actions that can help to advance the security posture of your environment.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data presented herein is pulled from Mantix4’s Managed Security Service sources (SIEM, SentinelOne, NDR, and SOC), offering a comprehensive view of your organization’s defenses.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Please note that certain risk mitigations (e.g., software patching) must be done with caution to ensure they do not impact service availability or integrity.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raw statistics accompanying this report give deeper insights into the current security posture and ongoing improvements.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 NDR reports reflect filtered network data in an attempt to reduce noise and highlight anomalies.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Cyber Insight Summary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yber_insight_body"/>
          <p:cNvSpPr txBox="1"/>
          <p:nvPr/>
        </p:nvSpPr>
        <p:spPr>
          <a:xfrm>
            <a:off x="1499616" y="1115568"/>
            <a:ext cx="6144768" cy="34107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Critical Patch Management Findings: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Windows Systems: [Count] missing Microsoft KB patches identified across the network.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Third-Party Software: [Count] applications require updates to address potential vulnerabilities.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  <a:r>
              <a:t>     –  Recommendation: Prioritize the deployment of these updates (with caution) to mitigate security risks and maintain system integrity.</a:t>
            </a:r>
          </a:p>
          <a:p>
            <a:pPr>
              <a:spcBef>
                <a:spcPts val="300"/>
              </a:spcBef>
              <a:spcAft>
                <a:spcPts val="200"/>
              </a:spcAft>
              <a:defRPr sz="1200" b="0">
                <a:solidFill>
                  <a:srgbClr val="1B212C"/>
                </a:solidFill>
                <a:latin typeface="Calibri"/>
              </a:defRPr>
            </a:pPr>
          </a:p>
          <a:p>
            <a:pPr>
              <a:spcBef>
                <a:spcPts val="300"/>
              </a:spcBef>
              <a:spcAft>
                <a:spcPts val="200"/>
              </a:spcAft>
              <a:defRPr sz="1200" b="1">
                <a:solidFill>
                  <a:srgbClr val="1B212C"/>
                </a:solidFill>
                <a:latin typeface="Calibri"/>
              </a:defRPr>
            </a:pPr>
            <a:r>
              <a:t>•  [Additional observations and recommendations to be populated]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Coverage &amp; Deployment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ervice_coverage_body"/>
          <p:cNvSpPr txBox="1"/>
          <p:nvPr/>
        </p:nvSpPr>
        <p:spPr>
          <a:xfrm>
            <a:off x="1517904" y="1078992"/>
            <a:ext cx="6108192" cy="3456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Endpoint Deployment ([Count] systems detected):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EPIC SIEM: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SentinelOne XDR: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DFIR Agent:  [Count] agents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Network Detection &amp; Response (NDR):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MS365 Cloud Coverage: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Active user accounts:  [Count]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1">
                <a:solidFill>
                  <a:srgbClr val="1B212C"/>
                </a:solidFill>
                <a:latin typeface="Calibri"/>
              </a:defRPr>
            </a:pPr>
            <a:r>
              <a:t>•  Vulnerability Management: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a.  Host-Based (OS / 3rd Party SW):  [Count] systems reporting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b.  Network-Based (Perimeter):  Client Managed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100" b="0">
                <a:solidFill>
                  <a:srgbClr val="1B212C"/>
                </a:solidFill>
                <a:latin typeface="Calibri"/>
              </a:defRPr>
            </a:pPr>
            <a:r>
              <a:t>     c.  Internal Network:  Subscribed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100" b="1">
                <a:solidFill>
                  <a:srgbClr val="1B212C"/>
                </a:solidFill>
                <a:latin typeface="Calibri"/>
              </a:rPr>
              <a:t>•  Security Operations Center (SOC) 24x7:</a:t>
            </a:r>
            <a:r>
              <a:rPr sz="1100" b="0">
                <a:solidFill>
                  <a:srgbClr val="1B212C"/>
                </a:solidFill>
                <a:latin typeface="Calibri"/>
              </a:rPr>
              <a:t>  Active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Service Statistics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lemetry_panel"/>
          <p:cNvSpPr/>
          <p:nvPr/>
        </p:nvSpPr>
        <p:spPr>
          <a:xfrm>
            <a:off x="3108960" y="1005840"/>
            <a:ext cx="3886200" cy="150876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lemetry_breakdown"/>
          <p:cNvSpPr txBox="1"/>
          <p:nvPr/>
        </p:nvSpPr>
        <p:spPr>
          <a:xfrm>
            <a:off x="3200400" y="1024128"/>
            <a:ext cx="3703320" cy="1417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B212C"/>
                </a:solidFill>
                <a:latin typeface="Calibri"/>
              </a:defRPr>
            </a:pPr>
            <a:r>
              <a:t>** Raw Telemetry Source Events: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Endpoint (SIEM):  [Count]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Network (NDR):  [Count]*</a:t>
            </a:r>
          </a:p>
          <a:p>
            <a:pPr algn="l">
              <a:spcBef>
                <a:spcPts val="300"/>
              </a:spcBef>
              <a:spcAft>
                <a:spcPts val="100"/>
              </a:spcAft>
              <a:defRPr sz="1000" b="0">
                <a:solidFill>
                  <a:srgbClr val="1B212C"/>
                </a:solidFill>
                <a:latin typeface="Calibri"/>
              </a:defRPr>
            </a:pPr>
            <a:r>
              <a:t>•  Cloud (MS365):  [Count]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700" b="0">
                <a:solidFill>
                  <a:srgbClr val="999999"/>
                </a:solidFill>
                <a:latin typeface="Calibri"/>
              </a:defRPr>
            </a:pPr>
            <a:r>
              <a:t>*The NDR value is an estimate based on typical traffic rates in this time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tat_raw_telemetry_ring"/>
          <p:cNvSpPr/>
          <p:nvPr/>
        </p:nvSpPr>
        <p:spPr>
          <a:xfrm>
            <a:off x="982980" y="2852928"/>
            <a:ext cx="868680" cy="868680"/>
          </a:xfrm>
          <a:prstGeom prst="ellipse">
            <a:avLst/>
          </a:prstGeom>
          <a:noFill/>
          <a:ln w="38100">
            <a:solidFill>
              <a:srgbClr val="2E8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at_raw_telemetry_value"/>
          <p:cNvSpPr txBox="1"/>
          <p:nvPr/>
        </p:nvSpPr>
        <p:spPr>
          <a:xfrm>
            <a:off x="50292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1" name="stat_raw_telemetry_label"/>
          <p:cNvSpPr txBox="1"/>
          <p:nvPr/>
        </p:nvSpPr>
        <p:spPr>
          <a:xfrm>
            <a:off x="50292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2E8B57"/>
                </a:solidFill>
                <a:latin typeface="Calibri"/>
              </a:defRPr>
            </a:pPr>
            <a:r>
              <a:t>Raw Telemetry</a:t>
            </a:r>
          </a:p>
        </p:txBody>
      </p:sp>
      <p:sp>
        <p:nvSpPr>
          <p:cNvPr id="12" name="stat_raw_telemetry_desc"/>
          <p:cNvSpPr txBox="1"/>
          <p:nvPr/>
        </p:nvSpPr>
        <p:spPr>
          <a:xfrm>
            <a:off x="57607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Total number of raw events ingested into the SIEM and NDR during the reporting period.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at_key_detections_ring"/>
          <p:cNvSpPr/>
          <p:nvPr/>
        </p:nvSpPr>
        <p:spPr>
          <a:xfrm>
            <a:off x="3177540" y="2852928"/>
            <a:ext cx="868680" cy="868680"/>
          </a:xfrm>
          <a:prstGeom prst="ellipse">
            <a:avLst/>
          </a:prstGeom>
          <a:noFill/>
          <a:ln w="38100">
            <a:solidFill>
              <a:srgbClr val="D26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tat_key_detections_value"/>
          <p:cNvSpPr txBox="1"/>
          <p:nvPr/>
        </p:nvSpPr>
        <p:spPr>
          <a:xfrm>
            <a:off x="269748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16" name="stat_key_detections_label"/>
          <p:cNvSpPr txBox="1"/>
          <p:nvPr/>
        </p:nvSpPr>
        <p:spPr>
          <a:xfrm>
            <a:off x="269748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D2691E"/>
                </a:solidFill>
                <a:latin typeface="Calibri"/>
              </a:defRPr>
            </a:pPr>
            <a:r>
              <a:t>Key Detections</a:t>
            </a:r>
          </a:p>
        </p:txBody>
      </p:sp>
      <p:sp>
        <p:nvSpPr>
          <p:cNvPr id="17" name="stat_key_detections_desc"/>
          <p:cNvSpPr txBox="1"/>
          <p:nvPr/>
        </p:nvSpPr>
        <p:spPr>
          <a:xfrm>
            <a:off x="277063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Detections involving critical or high severity events, issues and behaviors.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at_soc_tickets_ring"/>
          <p:cNvSpPr/>
          <p:nvPr/>
        </p:nvSpPr>
        <p:spPr>
          <a:xfrm>
            <a:off x="5372100" y="2852928"/>
            <a:ext cx="868680" cy="868680"/>
          </a:xfrm>
          <a:prstGeom prst="ellipse">
            <a:avLst/>
          </a:prstGeom>
          <a:noFill/>
          <a:ln w="38100">
            <a:solidFill>
              <a:srgbClr val="4169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at_soc_tickets_value"/>
          <p:cNvSpPr txBox="1"/>
          <p:nvPr/>
        </p:nvSpPr>
        <p:spPr>
          <a:xfrm>
            <a:off x="489204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1" name="stat_soc_tickets_label"/>
          <p:cNvSpPr txBox="1"/>
          <p:nvPr/>
        </p:nvSpPr>
        <p:spPr>
          <a:xfrm>
            <a:off x="489204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4169E1"/>
                </a:solidFill>
                <a:latin typeface="Calibri"/>
              </a:defRPr>
            </a:pPr>
            <a:r>
              <a:t>SOC Tickets</a:t>
            </a:r>
          </a:p>
        </p:txBody>
      </p:sp>
      <p:sp>
        <p:nvSpPr>
          <p:cNvPr id="22" name="stat_soc_tickets_desc"/>
          <p:cNvSpPr txBox="1"/>
          <p:nvPr/>
        </p:nvSpPr>
        <p:spPr>
          <a:xfrm>
            <a:off x="496519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Tickets generated by the 24x7 SOC involving notable activities requiring confirmation from the client.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743200"/>
            <a:ext cx="1828800" cy="18288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t_analyst_investigations_ring"/>
          <p:cNvSpPr/>
          <p:nvPr/>
        </p:nvSpPr>
        <p:spPr>
          <a:xfrm>
            <a:off x="7566660" y="2852928"/>
            <a:ext cx="868680" cy="868680"/>
          </a:xfrm>
          <a:prstGeom prst="ellipse">
            <a:avLst/>
          </a:prstGeom>
          <a:noFill/>
          <a:ln w="38100">
            <a:solidFill>
              <a:srgbClr val="8B00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at_analyst_investigations_value"/>
          <p:cNvSpPr txBox="1"/>
          <p:nvPr/>
        </p:nvSpPr>
        <p:spPr>
          <a:xfrm>
            <a:off x="7086600" y="3017520"/>
            <a:ext cx="1828800" cy="5029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300" b="1">
                <a:solidFill>
                  <a:srgbClr val="1B212C"/>
                </a:solidFill>
                <a:latin typeface="Calibri"/>
              </a:defRPr>
            </a:pPr>
            <a:r>
              <a:t>[Count]</a:t>
            </a:r>
          </a:p>
        </p:txBody>
      </p:sp>
      <p:sp>
        <p:nvSpPr>
          <p:cNvPr id="26" name="stat_analyst_investigations_label"/>
          <p:cNvSpPr txBox="1"/>
          <p:nvPr/>
        </p:nvSpPr>
        <p:spPr>
          <a:xfrm>
            <a:off x="7086600" y="3749039"/>
            <a:ext cx="1828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00" b="1">
                <a:solidFill>
                  <a:srgbClr val="8B008B"/>
                </a:solidFill>
                <a:latin typeface="Calibri"/>
              </a:defRPr>
            </a:pPr>
            <a:r>
              <a:t>Analyst Investigations</a:t>
            </a:r>
          </a:p>
        </p:txBody>
      </p:sp>
      <p:sp>
        <p:nvSpPr>
          <p:cNvPr id="27" name="stat_analyst_investigations_desc"/>
          <p:cNvSpPr txBox="1"/>
          <p:nvPr/>
        </p:nvSpPr>
        <p:spPr>
          <a:xfrm>
            <a:off x="7159752" y="4005072"/>
            <a:ext cx="1682496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700" b="0">
                <a:solidFill>
                  <a:srgbClr val="1B212C"/>
                </a:solidFill>
                <a:latin typeface="Calibri"/>
              </a:defRPr>
            </a:pPr>
            <a:r>
              <a:t>Investigative actions, including deeper analysis of contextual sources (e.g. DFIR).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331720" y="3287268"/>
            <a:ext cx="365760" cy="0"/>
          </a:xfrm>
          <a:prstGeom prst="line">
            <a:avLst/>
          </a:prstGeom>
          <a:ln w="38100">
            <a:solidFill>
              <a:srgbClr val="2E8B5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526280" y="3287268"/>
            <a:ext cx="365760" cy="0"/>
          </a:xfrm>
          <a:prstGeom prst="line">
            <a:avLst/>
          </a:prstGeom>
          <a:ln w="38100">
            <a:solidFill>
              <a:srgbClr val="D269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20840" y="3287268"/>
            <a:ext cx="365760" cy="0"/>
          </a:xfrm>
          <a:prstGeom prst="line">
            <a:avLst/>
          </a:prstGeom>
          <a:ln w="38100">
            <a:solidFill>
              <a:srgbClr val="8B008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33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Outbound Data Destination (1st)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1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Outbound Data Destination (2nd)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outbound_data_2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IP Destinations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ip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URLs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top_urls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Top External Destination Receiving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ext_dest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Country by Connection Count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country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Beaconing Score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beaconing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NDR - Sensitive Data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art_panel"/>
          <p:cNvSpPr/>
          <p:nvPr/>
        </p:nvSpPr>
        <p:spPr>
          <a:xfrm>
            <a:off x="1316736" y="914400"/>
            <a:ext cx="6510528" cy="36576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dr_sensitive_data"/>
          <p:cNvSpPr/>
          <p:nvPr/>
        </p:nvSpPr>
        <p:spPr>
          <a:xfrm>
            <a:off x="1426464" y="1051560"/>
            <a:ext cx="6291072" cy="33832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[Chart / Image placeholder]</a:t>
            </a:r>
          </a:p>
        </p:txBody>
      </p:sp>
      <p:sp>
        <p:nvSpPr>
          <p:cNvPr id="8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0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Required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quired_patches_body"/>
          <p:cNvSpPr txBox="1"/>
          <p:nvPr/>
        </p:nvSpPr>
        <p:spPr>
          <a:xfrm>
            <a:off x="1545336" y="1115568"/>
            <a:ext cx="6053328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Bef>
                <a:spcPts val="800"/>
              </a:spcBef>
              <a:spcAft>
                <a:spcPts val="600"/>
              </a:spcAft>
              <a:defRPr sz="1300" b="0">
                <a:solidFill>
                  <a:srgbClr val="1B212C"/>
                </a:solidFill>
                <a:latin typeface="Calibri"/>
              </a:defRPr>
            </a:pPr>
            <a:r>
              <a:t>•  There are currently [Count] Microsoft KB patches that need to be deployed.</a:t>
            </a:r>
          </a:p>
          <a:p>
            <a:pPr>
              <a:spcBef>
                <a:spcPts val="800"/>
              </a:spcBef>
              <a:spcAft>
                <a:spcPts val="600"/>
              </a:spcAft>
              <a:defRPr sz="1300">
                <a:solidFill>
                  <a:srgbClr val="1B212C"/>
                </a:solidFill>
                <a:latin typeface="Calibri"/>
              </a:defRPr>
            </a:pPr>
            <a:r>
              <a:t>•  There are [Count] software packages that require updating. Patching should be done with caution to ensure systems and applications are not negatively impacted.</a:t>
            </a:r>
          </a:p>
        </p:txBody>
      </p:sp>
      <p:sp>
        <p:nvSpPr>
          <p:cNvPr id="8" name="required_patches_chart"/>
          <p:cNvSpPr/>
          <p:nvPr/>
        </p:nvSpPr>
        <p:spPr>
          <a:xfrm>
            <a:off x="1545336" y="2217420"/>
            <a:ext cx="6053328" cy="201168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[Patch trend chart placeholder]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Software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oftware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software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software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Recommended Action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2057400" y="118872"/>
            <a:ext cx="50292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2057400" y="164592"/>
            <a:ext cx="50292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Top Microsoft Patches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ms_patches_table_note_panel"/>
          <p:cNvSpPr/>
          <p:nvPr/>
        </p:nvSpPr>
        <p:spPr>
          <a:xfrm>
            <a:off x="1316736" y="4114800"/>
            <a:ext cx="6510528" cy="457200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ms_patches_table_note"/>
          <p:cNvSpPr txBox="1"/>
          <p:nvPr/>
        </p:nvSpPr>
        <p:spPr>
          <a:xfrm>
            <a:off x="1426464" y="4160520"/>
            <a:ext cx="629107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1B212C"/>
                </a:solidFill>
                <a:latin typeface="Calibri"/>
              </a:defRPr>
            </a:pPr>
            <a:r>
              <a:t>Note: All patching, particularly on servers, should be done with caution. Patches should be tested, and they should be assessed for compatibility prior to deployment.</a:t>
            </a:r>
          </a:p>
        </p:txBody>
      </p:sp>
      <p:graphicFrame>
        <p:nvGraphicFramePr>
          <p:cNvPr id="8" name="ms_patches_table"/>
          <p:cNvGraphicFramePr>
            <a:graphicFrameLocks noGrp="1"/>
          </p:cNvGraphicFramePr>
          <p:nvPr/>
        </p:nvGraphicFramePr>
        <p:xfrm>
          <a:off x="347472" y="1005840"/>
          <a:ext cx="8357616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78808"/>
                <a:gridCol w="4178808"/>
              </a:tblGrid>
              <a:tr h="4953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Package Name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KB Patch</a:t>
                      </a:r>
                    </a:p>
                  </a:txBody>
                  <a:tcPr>
                    <a:solidFill>
                      <a:srgbClr val="00000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3D85C6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Vulnerabilities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vulns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internal network subnets were scanned for network vulnerabilities (not host-based software vulnerabilities) from the Mantix4 Sensor. The following were identified (Reported as [Category] [Protocol] [Severity] Issue Description):</a:t>
            </a:r>
          </a:p>
        </p:txBody>
      </p:sp>
      <p:sp>
        <p:nvSpPr>
          <p:cNvPr id="8" name="internal_vulns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[Vulnerability findings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_bar"/>
          <p:cNvSpPr/>
          <p:nvPr/>
        </p:nvSpPr>
        <p:spPr>
          <a:xfrm>
            <a:off x="1143000" y="118872"/>
            <a:ext cx="6858000" cy="530352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lide_title"/>
          <p:cNvSpPr txBox="1"/>
          <p:nvPr/>
        </p:nvSpPr>
        <p:spPr>
          <a:xfrm>
            <a:off x="1143000" y="164592"/>
            <a:ext cx="6858000" cy="48463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Internal Network Mitigation</a:t>
            </a:r>
          </a:p>
        </p:txBody>
      </p:sp>
      <p:sp>
        <p:nvSpPr>
          <p:cNvPr id="5" name="accent_line"/>
          <p:cNvSpPr/>
          <p:nvPr/>
        </p:nvSpPr>
        <p:spPr>
          <a:xfrm>
            <a:off x="347472" y="859536"/>
            <a:ext cx="8348471" cy="38100"/>
          </a:xfrm>
          <a:prstGeom prst="rect">
            <a:avLst/>
          </a:prstGeom>
          <a:solidFill>
            <a:srgbClr val="3876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_panel"/>
          <p:cNvSpPr/>
          <p:nvPr/>
        </p:nvSpPr>
        <p:spPr>
          <a:xfrm>
            <a:off x="1316736" y="1005840"/>
            <a:ext cx="6510528" cy="3639312"/>
          </a:xfrm>
          <a:prstGeom prst="rect">
            <a:avLst/>
          </a:prstGeom>
          <a:solidFill>
            <a:srgbClr val="D6DB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nternal_mitigation_intro"/>
          <p:cNvSpPr txBox="1"/>
          <p:nvPr/>
        </p:nvSpPr>
        <p:spPr>
          <a:xfrm>
            <a:off x="1499616" y="1097280"/>
            <a:ext cx="614476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1B212C"/>
                </a:solidFill>
                <a:latin typeface="Calibri"/>
              </a:defRPr>
            </a:pPr>
            <a:r>
              <a:t>The following mitigation actions are recommended based on the network vulnerability findings identified during the reporting period:</a:t>
            </a:r>
          </a:p>
        </p:txBody>
      </p:sp>
      <p:sp>
        <p:nvSpPr>
          <p:cNvPr id="8" name="internal_mitigation_content"/>
          <p:cNvSpPr/>
          <p:nvPr/>
        </p:nvSpPr>
        <p:spPr>
          <a:xfrm>
            <a:off x="1499616" y="1828800"/>
            <a:ext cx="6144768" cy="2606040"/>
          </a:xfrm>
          <a:prstGeom prst="roundRect">
            <a:avLst/>
          </a:prstGeom>
          <a:noFill/>
          <a:ln w="12700" dash="dash">
            <a:solidFill>
              <a:srgbClr val="BFBFB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>
                <a:solidFill>
                  <a:srgbClr val="BFBFBF"/>
                </a:solidFill>
                <a:latin typeface="Calibri"/>
              </a:defRPr>
            </a:pPr>
            <a:r>
              <a:t>[Mitigation recommendations to be populated]</a:t>
            </a:r>
          </a:p>
        </p:txBody>
      </p:sp>
      <p:sp>
        <p:nvSpPr>
          <p:cNvPr id="9" name="footer_bar"/>
          <p:cNvSpPr/>
          <p:nvPr/>
        </p:nvSpPr>
        <p:spPr>
          <a:xfrm>
            <a:off x="0" y="4645152"/>
            <a:ext cx="9144000" cy="502920"/>
          </a:xfrm>
          <a:prstGeom prst="rect">
            <a:avLst/>
          </a:prstGeom>
          <a:solidFill>
            <a:srgbClr val="1B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ntix4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4736592"/>
            <a:ext cx="1188720" cy="310896"/>
          </a:xfrm>
          <a:prstGeom prst="rect">
            <a:avLst/>
          </a:prstGeom>
        </p:spPr>
      </p:pic>
      <p:sp>
        <p:nvSpPr>
          <p:cNvPr id="11" name="page_number"/>
          <p:cNvSpPr txBox="1"/>
          <p:nvPr/>
        </p:nvSpPr>
        <p:spPr>
          <a:xfrm>
            <a:off x="8229600" y="4690872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